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2" d="100"/>
          <a:sy n="112" d="100"/>
        </p:scale>
        <p:origin x="115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2DEF9-9860-8731-5B7B-BEEA71A866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03CED5-441F-9AA3-A819-B5A8DB47D1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09638-5541-1863-15E6-81989940D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F4255-B7ED-4B81-B102-4A69D2993BB2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81A869-B359-4117-DF17-308427A7D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58202-24E2-9A33-5CC8-EC9110F8F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49C21A-640C-4435-95A4-24125C50A5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64FB3-9212-09DF-9BEA-0339EEE80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06C35A-8BF5-05EC-424F-130CDD31E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2558E-A180-A746-1D22-ED17B2F71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F4255-B7ED-4B81-B102-4A69D2993BB2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F6C788-3D53-5E69-F26D-D37B0CA5A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F488DF-191A-38A8-0711-3D939491B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49C21A-640C-4435-95A4-24125C50A5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867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F0911-D3D5-71B9-54A6-921BC0EA2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E0C680-0AD9-F77E-32F5-3589FAD27B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323A6-AD48-BE29-DD79-688163853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F4255-B7ED-4B81-B102-4A69D2993BB2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CFB9F-0C67-B21B-4CB2-81720E85C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FDCC38-EA50-CB76-D6F2-8E832BF2D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49C21A-640C-4435-95A4-24125C50A5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4636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215B2-883B-4BF7-9B3E-69F59B656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0AD96F-F909-D8C7-7F2F-88D204FBE1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8C920F-D872-695D-1E99-9F7767F5AD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053C11-B664-4298-4DA4-1CDABD7FA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F4255-B7ED-4B81-B102-4A69D2993BB2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392DA4-6895-7128-1F7E-BB7BD1005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8F0251-1721-1B1B-A9AE-A95120483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49C21A-640C-4435-95A4-24125C50A5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0939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B6F9B-BBED-060E-6C50-5B59ADA47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ABCD57-E540-FCA8-57B2-EA32A3D93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669C6F-145E-3E8C-8917-66257FCC4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8ED6F9-FC31-CBBD-2B0B-1772C717C3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2A3410-F1C4-0BBF-86CF-C6CBE4A76C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9E77712-A6AA-3EB9-B84F-E37E7B09D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F4255-B7ED-4B81-B102-4A69D2993BB2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17B480-EDCC-851F-382E-D5934181C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432982-E48B-2097-77A4-969F7BA47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49C21A-640C-4435-95A4-24125C50A5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568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7F1B8-49B3-63CD-6518-4207B0D72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79509A-005A-4D55-EB53-37947606E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F4255-B7ED-4B81-B102-4A69D2993BB2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60F5FB-CB91-5276-8DB9-4697B0A9E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766FAC-D69F-E5A1-7145-843CBDA8E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49C21A-640C-4435-95A4-24125C50A5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9998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E2613A-E567-2D65-B41F-10D6B804A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F4255-B7ED-4B81-B102-4A69D2993BB2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3121A5-B2A8-8AFE-4B19-1B667EDDF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857EB0-F6A4-2B65-01FC-54DF3FAE6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49C21A-640C-4435-95A4-24125C50A5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7614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7CC6B-DC68-7B9E-641F-49F352180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CBEBDD-5BB9-479C-F3E2-69588E531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8E1419-BBFB-473D-4DC5-3C50E93D21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8EADE2-3B76-455E-D6AE-0993A032B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F4255-B7ED-4B81-B102-4A69D2993BB2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E9F2B0-F8D2-3426-92C8-D5C3C3868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498C66-5C47-6F9E-2B8A-78CA93BEB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49C21A-640C-4435-95A4-24125C50A5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663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E5186-79AA-48B8-623E-F50EDE3C4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CB47A1-AB12-DE31-DCB2-28D78A5B12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73ED56-7F4F-5BB6-CE75-2368CFBB8B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C04843-A910-FDB9-BE7F-37251BF12E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F4255-B7ED-4B81-B102-4A69D2993BB2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3732D0-5308-D6FF-4AFF-6408D5D99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73D78D-56E1-B6F2-E619-B35618148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49C21A-640C-4435-95A4-24125C50A5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953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18394-89DC-9586-09F1-AE8D332ED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5004B9-663D-8CF7-146F-679AB46A6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002DA5-E675-6859-C300-3F35448ED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F4255-B7ED-4B81-B102-4A69D2993BB2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51C57-3D93-5BA6-4954-C1FF02CB5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039FAD-5158-077C-2AD4-B652A3C0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49C21A-640C-4435-95A4-24125C50A5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214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27CFD7-A4B9-400D-3B60-B343D93824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3BF35F-655E-FB5D-7F2B-9062F24574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06C0CD-FDF4-4C26-2E58-70198E0F0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F4255-B7ED-4B81-B102-4A69D2993BB2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236442-2748-30B6-CE9E-C7C49A570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0E0521-269A-DA99-B2AF-D57BC8263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49C21A-640C-4435-95A4-24125C50A5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28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C16083-C5C8-1993-FA2B-1A8F570723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BF46CF-DA33-263D-8B08-BF1B0146BD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6739AC-EBB3-DBF9-7C23-6D4E227B0E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EF4255-B7ED-4B81-B102-4A69D2993BB2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7324-8115-B401-9E91-915D82826B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0FE589-C94A-CAF8-9574-334B88370D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49C21A-640C-4435-95A4-24125C50A5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0566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8C3A0-86B0-1280-8728-1361AB826A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F45B75-DD3E-2C4D-7166-0E0C4A0929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537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1B99D0-23AF-005F-A341-8A98EE2AA6EC}"/>
              </a:ext>
            </a:extLst>
          </p:cNvPr>
          <p:cNvSpPr/>
          <p:nvPr/>
        </p:nvSpPr>
        <p:spPr>
          <a:xfrm>
            <a:off x="1073426" y="390939"/>
            <a:ext cx="1769165" cy="3644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build_oms_list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59ABD2-6D1B-E0D0-0A66-AFAC7F95602A}"/>
              </a:ext>
            </a:extLst>
          </p:cNvPr>
          <p:cNvSpPr/>
          <p:nvPr/>
        </p:nvSpPr>
        <p:spPr>
          <a:xfrm>
            <a:off x="3472069" y="390939"/>
            <a:ext cx="1769165" cy="3644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aggregate_oms_bitmap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0F3B39-5A73-93BB-46D5-F8E5ABEF10D1}"/>
              </a:ext>
            </a:extLst>
          </p:cNvPr>
          <p:cNvSpPr/>
          <p:nvPr/>
        </p:nvSpPr>
        <p:spPr>
          <a:xfrm>
            <a:off x="1073426" y="755374"/>
            <a:ext cx="1769165" cy="56984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network: </a:t>
            </a:r>
            <a:r>
              <a:rPr lang="en-US" sz="1200" dirty="0" err="1">
                <a:solidFill>
                  <a:schemeClr val="tx1"/>
                </a:solidFill>
              </a:rPr>
              <a:t>DiGraph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equipment: </a:t>
            </a:r>
            <a:r>
              <a:rPr lang="en-US" sz="1200" dirty="0" err="1">
                <a:solidFill>
                  <a:schemeClr val="tx1"/>
                </a:solidFill>
              </a:rPr>
              <a:t>dict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D3ADE7-8758-EEB0-20BD-5A91D3785698}"/>
              </a:ext>
            </a:extLst>
          </p:cNvPr>
          <p:cNvSpPr/>
          <p:nvPr/>
        </p:nvSpPr>
        <p:spPr>
          <a:xfrm>
            <a:off x="1073426" y="1325217"/>
            <a:ext cx="1769165" cy="12722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t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an oms is build reading all intermediate nodes between two adjacent ROADMs each element within the list is being added an oms and </a:t>
            </a:r>
            <a:r>
              <a:rPr lang="en-US" sz="800" dirty="0" err="1">
                <a:solidFill>
                  <a:schemeClr val="tx1"/>
                </a:solidFill>
              </a:rPr>
              <a:t>oms_id</a:t>
            </a:r>
            <a:r>
              <a:rPr lang="en-US" sz="800" dirty="0">
                <a:solidFill>
                  <a:schemeClr val="tx1"/>
                </a:solidFill>
              </a:rPr>
              <a:t> to record the oms it belongs to. the function supports different spectrum width and supposes that the whole network works with the min range among OMSs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117EA3F-ED36-D904-B1D1-13AB4B326688}"/>
              </a:ext>
            </a:extLst>
          </p:cNvPr>
          <p:cNvSpPr/>
          <p:nvPr/>
        </p:nvSpPr>
        <p:spPr>
          <a:xfrm>
            <a:off x="5930348" y="390939"/>
            <a:ext cx="1769165" cy="3644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spectrum_selection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5238916-DE6B-2444-E97A-E8566B5A0EBC}"/>
              </a:ext>
            </a:extLst>
          </p:cNvPr>
          <p:cNvSpPr/>
          <p:nvPr/>
        </p:nvSpPr>
        <p:spPr>
          <a:xfrm>
            <a:off x="5930348" y="755374"/>
            <a:ext cx="1769165" cy="56984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F0E981-B45C-9BC4-9904-3BD89FB95E5C}"/>
              </a:ext>
            </a:extLst>
          </p:cNvPr>
          <p:cNvSpPr/>
          <p:nvPr/>
        </p:nvSpPr>
        <p:spPr>
          <a:xfrm>
            <a:off x="5930348" y="1325217"/>
            <a:ext cx="1769165" cy="12722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t"/>
          <a:lstStyle/>
          <a:p>
            <a:pPr algn="ctr"/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82EC07-C12D-16CE-2F87-989D0C551D95}"/>
              </a:ext>
            </a:extLst>
          </p:cNvPr>
          <p:cNvSpPr/>
          <p:nvPr/>
        </p:nvSpPr>
        <p:spPr>
          <a:xfrm>
            <a:off x="2827681" y="4472607"/>
            <a:ext cx="1769165" cy="3644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S/D Node selected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254514-D4D6-29FB-7F36-D9913A5EB101}"/>
              </a:ext>
            </a:extLst>
          </p:cNvPr>
          <p:cNvSpPr/>
          <p:nvPr/>
        </p:nvSpPr>
        <p:spPr>
          <a:xfrm>
            <a:off x="7571961" y="4472607"/>
            <a:ext cx="1769165" cy="3644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UI parameter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6E76F87-CD8E-8E16-EBB3-A707C1206F28}"/>
              </a:ext>
            </a:extLst>
          </p:cNvPr>
          <p:cNvSpPr/>
          <p:nvPr/>
        </p:nvSpPr>
        <p:spPr>
          <a:xfrm>
            <a:off x="5029199" y="4472609"/>
            <a:ext cx="1951383" cy="3644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Default from SI parameter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D86D46C-B48F-F52E-0698-DE949367F487}"/>
              </a:ext>
            </a:extLst>
          </p:cNvPr>
          <p:cNvSpPr/>
          <p:nvPr/>
        </p:nvSpPr>
        <p:spPr>
          <a:xfrm>
            <a:off x="10084906" y="4472606"/>
            <a:ext cx="1417981" cy="3644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Actual used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BD9AD6D-D609-0452-47DA-DC08CB0E6CBC}"/>
              </a:ext>
            </a:extLst>
          </p:cNvPr>
          <p:cNvSpPr/>
          <p:nvPr/>
        </p:nvSpPr>
        <p:spPr>
          <a:xfrm>
            <a:off x="10084905" y="3631096"/>
            <a:ext cx="1417982" cy="3644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Sim inputs display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66C5887-5B6C-054E-80F1-FACDB21C0DCA}"/>
              </a:ext>
            </a:extLst>
          </p:cNvPr>
          <p:cNvCxnSpPr>
            <a:cxnSpLocks/>
            <a:stCxn id="21" idx="3"/>
            <a:endCxn id="20" idx="1"/>
          </p:cNvCxnSpPr>
          <p:nvPr/>
        </p:nvCxnSpPr>
        <p:spPr>
          <a:xfrm flipV="1">
            <a:off x="6980582" y="4654825"/>
            <a:ext cx="591379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C5BA18-6AC1-F49A-1CF2-35BD348396EC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>
            <a:off x="4596846" y="4654825"/>
            <a:ext cx="432353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765FD30-9DFC-5BBE-7A28-3F97B38816CF}"/>
              </a:ext>
            </a:extLst>
          </p:cNvPr>
          <p:cNvCxnSpPr>
            <a:cxnSpLocks/>
            <a:stCxn id="20" idx="3"/>
            <a:endCxn id="22" idx="1"/>
          </p:cNvCxnSpPr>
          <p:nvPr/>
        </p:nvCxnSpPr>
        <p:spPr>
          <a:xfrm flipV="1">
            <a:off x="9341126" y="4654824"/>
            <a:ext cx="74378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7F76697-6BB5-685D-3933-796D04A6E519}"/>
              </a:ext>
            </a:extLst>
          </p:cNvPr>
          <p:cNvCxnSpPr>
            <a:cxnSpLocks/>
            <a:stCxn id="22" idx="0"/>
            <a:endCxn id="23" idx="2"/>
          </p:cNvCxnSpPr>
          <p:nvPr/>
        </p:nvCxnSpPr>
        <p:spPr>
          <a:xfrm flipH="1" flipV="1">
            <a:off x="10793896" y="3995531"/>
            <a:ext cx="1" cy="4770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4C3DEE8E-1B7E-0923-4FB3-03041AB7A2AD}"/>
              </a:ext>
            </a:extLst>
          </p:cNvPr>
          <p:cNvSpPr/>
          <p:nvPr/>
        </p:nvSpPr>
        <p:spPr>
          <a:xfrm>
            <a:off x="7571961" y="5380381"/>
            <a:ext cx="1769164" cy="3644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User input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CAAFD7C-2800-897E-3812-3203EFAC13CF}"/>
              </a:ext>
            </a:extLst>
          </p:cNvPr>
          <p:cNvCxnSpPr>
            <a:cxnSpLocks/>
            <a:stCxn id="37" idx="0"/>
            <a:endCxn id="20" idx="2"/>
          </p:cNvCxnSpPr>
          <p:nvPr/>
        </p:nvCxnSpPr>
        <p:spPr>
          <a:xfrm flipV="1">
            <a:off x="8456543" y="4837042"/>
            <a:ext cx="1" cy="543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14292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ED630-4851-36B6-0EEF-DA472DB11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F966671A-D28E-8996-F4AF-9B74A3AF598C}"/>
              </a:ext>
            </a:extLst>
          </p:cNvPr>
          <p:cNvSpPr/>
          <p:nvPr/>
        </p:nvSpPr>
        <p:spPr>
          <a:xfrm>
            <a:off x="407672" y="808381"/>
            <a:ext cx="1706221" cy="3644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Nodes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E25F406-2A05-FBB7-04C6-542C0B3C9739}"/>
              </a:ext>
            </a:extLst>
          </p:cNvPr>
          <p:cNvSpPr/>
          <p:nvPr/>
        </p:nvSpPr>
        <p:spPr>
          <a:xfrm>
            <a:off x="3432313" y="801752"/>
            <a:ext cx="1417982" cy="553925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Traffic Generator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FAA47B-09D7-290B-DA14-A9BE7ABF25E5}"/>
              </a:ext>
            </a:extLst>
          </p:cNvPr>
          <p:cNvSpPr/>
          <p:nvPr/>
        </p:nvSpPr>
        <p:spPr>
          <a:xfrm>
            <a:off x="3432313" y="163991"/>
            <a:ext cx="1417982" cy="3644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Traffic Params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EF54E72-116F-0A04-BE2C-DFA84D560BDB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4141304" y="528426"/>
            <a:ext cx="0" cy="2733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057359FC-CA3D-4BDC-62C6-45E8C04AC945}"/>
              </a:ext>
            </a:extLst>
          </p:cNvPr>
          <p:cNvSpPr/>
          <p:nvPr/>
        </p:nvSpPr>
        <p:spPr>
          <a:xfrm>
            <a:off x="3432313" y="1468316"/>
            <a:ext cx="1417982" cy="53936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GNPY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24066F-673F-B4D9-FC55-D440AAFD24D3}"/>
              </a:ext>
            </a:extLst>
          </p:cNvPr>
          <p:cNvSpPr/>
          <p:nvPr/>
        </p:nvSpPr>
        <p:spPr>
          <a:xfrm>
            <a:off x="407671" y="1504121"/>
            <a:ext cx="1706221" cy="3644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Fibers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6AAE457-16DE-CCDF-E367-C00E510CBAD1}"/>
              </a:ext>
            </a:extLst>
          </p:cNvPr>
          <p:cNvSpPr/>
          <p:nvPr/>
        </p:nvSpPr>
        <p:spPr>
          <a:xfrm>
            <a:off x="407670" y="2199861"/>
            <a:ext cx="1706221" cy="3644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OMS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6001D94-DC44-5354-44BA-D873BAC4E77D}"/>
              </a:ext>
            </a:extLst>
          </p:cNvPr>
          <p:cNvSpPr/>
          <p:nvPr/>
        </p:nvSpPr>
        <p:spPr>
          <a:xfrm>
            <a:off x="407670" y="2897256"/>
            <a:ext cx="1706221" cy="3644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Sites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65DD134-88B1-D0F8-27C0-84957339809D}"/>
              </a:ext>
            </a:extLst>
          </p:cNvPr>
          <p:cNvSpPr/>
          <p:nvPr/>
        </p:nvSpPr>
        <p:spPr>
          <a:xfrm>
            <a:off x="228921" y="331969"/>
            <a:ext cx="2024118" cy="30970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sz="1500" dirty="0">
                <a:solidFill>
                  <a:schemeClr val="tx1"/>
                </a:solidFill>
              </a:rPr>
              <a:t>Topology</a:t>
            </a:r>
            <a:endParaRPr lang="en-US" sz="1500" dirty="0">
              <a:solidFill>
                <a:schemeClr val="tx1"/>
              </a:solidFill>
            </a:endParaRP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87FA91C-B6A4-FE2B-1A14-69BF632281CB}"/>
              </a:ext>
            </a:extLst>
          </p:cNvPr>
          <p:cNvGrpSpPr/>
          <p:nvPr/>
        </p:nvGrpSpPr>
        <p:grpSpPr>
          <a:xfrm>
            <a:off x="3126122" y="2737727"/>
            <a:ext cx="3347725" cy="1662523"/>
            <a:chOff x="2650466" y="2935980"/>
            <a:chExt cx="3347725" cy="1662523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B65E585-DCAD-83E0-DE96-E1EF9C0EFDE4}"/>
                </a:ext>
              </a:extLst>
            </p:cNvPr>
            <p:cNvSpPr/>
            <p:nvPr/>
          </p:nvSpPr>
          <p:spPr>
            <a:xfrm>
              <a:off x="2829213" y="3392558"/>
              <a:ext cx="612000" cy="3644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EDFA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59B46CB0-ED21-148B-CB9C-82DDFA5AB5C8}"/>
                </a:ext>
              </a:extLst>
            </p:cNvPr>
            <p:cNvSpPr/>
            <p:nvPr/>
          </p:nvSpPr>
          <p:spPr>
            <a:xfrm>
              <a:off x="5248954" y="3392558"/>
              <a:ext cx="612000" cy="3644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Fiber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EC8F0E4-25C0-B009-8F10-31977EDD2EA6}"/>
                </a:ext>
              </a:extLst>
            </p:cNvPr>
            <p:cNvSpPr/>
            <p:nvPr/>
          </p:nvSpPr>
          <p:spPr>
            <a:xfrm>
              <a:off x="2829213" y="4040786"/>
              <a:ext cx="1044438" cy="3644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 err="1">
                  <a:solidFill>
                    <a:schemeClr val="tx1"/>
                  </a:solidFill>
                </a:rPr>
                <a:t>RamanFiber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48EF8671-9BD3-BFCF-C316-3F8D6E3E5AFF}"/>
                </a:ext>
              </a:extLst>
            </p:cNvPr>
            <p:cNvSpPr/>
            <p:nvPr/>
          </p:nvSpPr>
          <p:spPr>
            <a:xfrm>
              <a:off x="4442373" y="3392558"/>
              <a:ext cx="612000" cy="3644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Span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FBA56ADD-C6F5-88BC-6066-22DCDB361188}"/>
                </a:ext>
              </a:extLst>
            </p:cNvPr>
            <p:cNvSpPr/>
            <p:nvPr/>
          </p:nvSpPr>
          <p:spPr>
            <a:xfrm>
              <a:off x="3635793" y="3392558"/>
              <a:ext cx="612000" cy="3644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en-GB" sz="1200" dirty="0" err="1">
                  <a:solidFill>
                    <a:schemeClr val="tx1"/>
                  </a:solidFill>
                </a:rPr>
                <a:t>Roadm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3D825FAE-5EEE-D3F5-E864-511AD214960E}"/>
                </a:ext>
              </a:extLst>
            </p:cNvPr>
            <p:cNvSpPr/>
            <p:nvPr/>
          </p:nvSpPr>
          <p:spPr>
            <a:xfrm>
              <a:off x="5464954" y="4051850"/>
              <a:ext cx="396000" cy="3644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SI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FEB9CCAE-A6CD-3434-6270-B73F54A77D2D}"/>
                </a:ext>
              </a:extLst>
            </p:cNvPr>
            <p:cNvSpPr/>
            <p:nvPr/>
          </p:nvSpPr>
          <p:spPr>
            <a:xfrm>
              <a:off x="4147084" y="4051850"/>
              <a:ext cx="1044438" cy="3644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Transceiver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6F761B1D-D7E3-B93E-1CE5-1D1FDC4F1438}"/>
                </a:ext>
              </a:extLst>
            </p:cNvPr>
            <p:cNvSpPr/>
            <p:nvPr/>
          </p:nvSpPr>
          <p:spPr>
            <a:xfrm>
              <a:off x="2650466" y="2935980"/>
              <a:ext cx="3347725" cy="166252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GB" sz="1500" dirty="0">
                  <a:solidFill>
                    <a:schemeClr val="tx1"/>
                  </a:solidFill>
                </a:rPr>
                <a:t>Equipment Library</a:t>
              </a:r>
              <a:endParaRPr lang="en-US" sz="15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C8E6B028-ED1C-2B7E-228A-A78E3836714F}"/>
              </a:ext>
            </a:extLst>
          </p:cNvPr>
          <p:cNvCxnSpPr>
            <a:cxnSpLocks/>
            <a:stCxn id="37" idx="6"/>
            <a:endCxn id="15" idx="1"/>
          </p:cNvCxnSpPr>
          <p:nvPr/>
        </p:nvCxnSpPr>
        <p:spPr>
          <a:xfrm flipV="1">
            <a:off x="4850295" y="1643605"/>
            <a:ext cx="4641370" cy="9439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E4D79C4D-2BAB-B248-DEEF-B34A5BDB2B36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850295" y="983970"/>
            <a:ext cx="4641370" cy="3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F0A767C-0669-D657-7F4C-CECDB3DEC06B}"/>
              </a:ext>
            </a:extLst>
          </p:cNvPr>
          <p:cNvGrpSpPr/>
          <p:nvPr/>
        </p:nvGrpSpPr>
        <p:grpSpPr>
          <a:xfrm>
            <a:off x="9319713" y="382993"/>
            <a:ext cx="2024118" cy="1670766"/>
            <a:chOff x="228921" y="3626126"/>
            <a:chExt cx="2024118" cy="1670766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0D0E205-F707-D3B7-736A-EDC1811410EB}"/>
                </a:ext>
              </a:extLst>
            </p:cNvPr>
            <p:cNvSpPr/>
            <p:nvPr/>
          </p:nvSpPr>
          <p:spPr>
            <a:xfrm>
              <a:off x="400873" y="4045228"/>
              <a:ext cx="1706221" cy="3644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Demands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34711AD-BFD1-B4FA-4B81-2A15413C8A7B}"/>
                </a:ext>
              </a:extLst>
            </p:cNvPr>
            <p:cNvSpPr/>
            <p:nvPr/>
          </p:nvSpPr>
          <p:spPr>
            <a:xfrm>
              <a:off x="400873" y="4704520"/>
              <a:ext cx="1706221" cy="3644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Reach Connections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915A0267-7212-4B9F-C6FF-33B816CDF82E}"/>
                </a:ext>
              </a:extLst>
            </p:cNvPr>
            <p:cNvSpPr/>
            <p:nvPr/>
          </p:nvSpPr>
          <p:spPr>
            <a:xfrm>
              <a:off x="228921" y="3626126"/>
              <a:ext cx="2024118" cy="167076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GB" sz="1500" dirty="0" err="1">
                  <a:solidFill>
                    <a:schemeClr val="tx1"/>
                  </a:solidFill>
                </a:rPr>
                <a:t>Runtime_Simulations</a:t>
              </a:r>
              <a:endParaRPr lang="en-US" sz="15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51A2FD47-965C-1856-8D72-ADE146C3F43E}"/>
              </a:ext>
            </a:extLst>
          </p:cNvPr>
          <p:cNvCxnSpPr>
            <a:cxnSpLocks/>
            <a:stCxn id="47" idx="3"/>
            <a:endCxn id="37" idx="4"/>
          </p:cNvCxnSpPr>
          <p:nvPr/>
        </p:nvCxnSpPr>
        <p:spPr>
          <a:xfrm flipH="1" flipV="1">
            <a:off x="4141304" y="2007678"/>
            <a:ext cx="2332543" cy="1561311"/>
          </a:xfrm>
          <a:prstGeom prst="bentConnector4">
            <a:avLst>
              <a:gd name="adj1" fmla="val -9800"/>
              <a:gd name="adj2" fmla="val 7662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74ADC3C2-20FA-DD85-2878-18ED9B1E165B}"/>
              </a:ext>
            </a:extLst>
          </p:cNvPr>
          <p:cNvCxnSpPr>
            <a:cxnSpLocks/>
            <a:stCxn id="45" idx="3"/>
            <a:endCxn id="37" idx="2"/>
          </p:cNvCxnSpPr>
          <p:nvPr/>
        </p:nvCxnSpPr>
        <p:spPr>
          <a:xfrm flipV="1">
            <a:off x="2253039" y="1737997"/>
            <a:ext cx="1179274" cy="14248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89F073-7110-3D68-6FDE-B9204B0FEB03}"/>
              </a:ext>
            </a:extLst>
          </p:cNvPr>
          <p:cNvCxnSpPr>
            <a:cxnSpLocks/>
            <a:stCxn id="19" idx="3"/>
            <a:endCxn id="21" idx="2"/>
          </p:cNvCxnSpPr>
          <p:nvPr/>
        </p:nvCxnSpPr>
        <p:spPr>
          <a:xfrm>
            <a:off x="2113893" y="990599"/>
            <a:ext cx="1318420" cy="8811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>
            <a:extLst>
              <a:ext uri="{FF2B5EF4-FFF2-40B4-BE49-F238E27FC236}">
                <a16:creationId xmlns:a16="http://schemas.microsoft.com/office/drawing/2014/main" id="{627529FB-688D-34D0-3298-157522E61B8C}"/>
              </a:ext>
            </a:extLst>
          </p:cNvPr>
          <p:cNvSpPr/>
          <p:nvPr/>
        </p:nvSpPr>
        <p:spPr>
          <a:xfrm>
            <a:off x="9628960" y="2737727"/>
            <a:ext cx="1417982" cy="53936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CPE</a:t>
            </a:r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226D1703-E8F0-6F42-04CB-AD7AB1921212}"/>
              </a:ext>
            </a:extLst>
          </p:cNvPr>
          <p:cNvCxnSpPr>
            <a:cxnSpLocks/>
            <a:stCxn id="72" idx="2"/>
            <a:endCxn id="102" idx="0"/>
          </p:cNvCxnSpPr>
          <p:nvPr/>
        </p:nvCxnSpPr>
        <p:spPr>
          <a:xfrm rot="16200000" flipH="1">
            <a:off x="9992877" y="2392653"/>
            <a:ext cx="683968" cy="617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1D0861F6-30DE-61B0-F2A8-88766D851FD1}"/>
              </a:ext>
            </a:extLst>
          </p:cNvPr>
          <p:cNvCxnSpPr>
            <a:cxnSpLocks/>
            <a:stCxn id="45" idx="3"/>
            <a:endCxn id="102" idx="4"/>
          </p:cNvCxnSpPr>
          <p:nvPr/>
        </p:nvCxnSpPr>
        <p:spPr>
          <a:xfrm>
            <a:off x="2253039" y="1880485"/>
            <a:ext cx="8084912" cy="1396604"/>
          </a:xfrm>
          <a:prstGeom prst="bentConnector4">
            <a:avLst>
              <a:gd name="adj1" fmla="val 7212"/>
              <a:gd name="adj2" fmla="val 25122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30112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7469691-7E6D-4FB2-10E9-652AF9BA42BD}"/>
              </a:ext>
            </a:extLst>
          </p:cNvPr>
          <p:cNvSpPr/>
          <p:nvPr/>
        </p:nvSpPr>
        <p:spPr>
          <a:xfrm>
            <a:off x="5484194" y="3404755"/>
            <a:ext cx="1560482" cy="62337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Defines spectrum bands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8069407-1A0D-9AB3-FBCA-4C60057DBC20}"/>
              </a:ext>
            </a:extLst>
          </p:cNvPr>
          <p:cNvSpPr/>
          <p:nvPr/>
        </p:nvSpPr>
        <p:spPr>
          <a:xfrm>
            <a:off x="206408" y="278281"/>
            <a:ext cx="3347725" cy="10110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sz="1500" dirty="0">
                <a:solidFill>
                  <a:schemeClr val="tx1"/>
                </a:solidFill>
              </a:rPr>
              <a:t>Equipment Library</a:t>
            </a:r>
          </a:p>
          <a:p>
            <a:r>
              <a:rPr lang="en-US" sz="1500" dirty="0">
                <a:solidFill>
                  <a:schemeClr val="tx1"/>
                </a:solidFill>
              </a:rPr>
              <a:t>{"</a:t>
            </a:r>
            <a:r>
              <a:rPr lang="en-US" sz="1500" dirty="0" err="1">
                <a:solidFill>
                  <a:schemeClr val="tx1"/>
                </a:solidFill>
              </a:rPr>
              <a:t>Edfa</a:t>
            </a:r>
            <a:r>
              <a:rPr lang="en-US" sz="1500" dirty="0">
                <a:solidFill>
                  <a:schemeClr val="tx1"/>
                </a:solidFill>
              </a:rPr>
              <a:t>": [...],</a:t>
            </a:r>
          </a:p>
          <a:p>
            <a:r>
              <a:rPr lang="en-US" sz="1500" dirty="0">
                <a:solidFill>
                  <a:schemeClr val="tx1"/>
                </a:solidFill>
              </a:rPr>
              <a:t>"Fiber": [...]</a:t>
            </a:r>
          </a:p>
          <a:p>
            <a:r>
              <a:rPr lang="en-US" sz="1500" dirty="0">
                <a:solidFill>
                  <a:schemeClr val="tx1"/>
                </a:solidFill>
              </a:rPr>
              <a:t>}</a:t>
            </a:r>
          </a:p>
          <a:p>
            <a:endParaRPr lang="en-US" sz="1500" dirty="0">
              <a:solidFill>
                <a:schemeClr val="tx1"/>
              </a:solidFill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184AE97-7BC6-E7EB-0FD7-D2885737AEAD}"/>
              </a:ext>
            </a:extLst>
          </p:cNvPr>
          <p:cNvGrpSpPr/>
          <p:nvPr/>
        </p:nvGrpSpPr>
        <p:grpSpPr>
          <a:xfrm>
            <a:off x="1050195" y="1471522"/>
            <a:ext cx="1268935" cy="2192175"/>
            <a:chOff x="1050195" y="1471522"/>
            <a:chExt cx="1268935" cy="219217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4A1E99C-C98C-DDE4-394F-1D16B2704DDA}"/>
                </a:ext>
              </a:extLst>
            </p:cNvPr>
            <p:cNvSpPr/>
            <p:nvPr/>
          </p:nvSpPr>
          <p:spPr>
            <a:xfrm>
              <a:off x="1050195" y="1471522"/>
              <a:ext cx="1268933" cy="3644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EDFA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6515143-5499-541F-3613-8A55C7269DBD}"/>
                </a:ext>
              </a:extLst>
            </p:cNvPr>
            <p:cNvSpPr/>
            <p:nvPr/>
          </p:nvSpPr>
          <p:spPr>
            <a:xfrm>
              <a:off x="1050196" y="1835957"/>
              <a:ext cx="1268934" cy="182774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Name(filename)</a:t>
              </a: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type_variety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type_def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f_max</a:t>
              </a:r>
              <a:r>
                <a:rPr lang="en-US" sz="700" dirty="0">
                  <a:solidFill>
                    <a:schemeClr val="tx1"/>
                  </a:solidFill>
                </a:rPr>
                <a:t> (Hz) [optional]</a:t>
              </a: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f_min</a:t>
              </a:r>
              <a:r>
                <a:rPr lang="en-US" sz="700" dirty="0">
                  <a:solidFill>
                    <a:schemeClr val="tx1"/>
                  </a:solidFill>
                </a:rPr>
                <a:t> (Hz) [optional]</a:t>
              </a: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gain_flatmax</a:t>
              </a:r>
              <a:r>
                <a:rPr lang="en-US" sz="700" dirty="0">
                  <a:solidFill>
                    <a:schemeClr val="tx1"/>
                  </a:solidFill>
                </a:rPr>
                <a:t>(dB)</a:t>
              </a: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gain_min</a:t>
              </a:r>
              <a:r>
                <a:rPr lang="en-US" sz="700" dirty="0">
                  <a:solidFill>
                    <a:schemeClr val="tx1"/>
                  </a:solidFill>
                </a:rPr>
                <a:t> (dB)</a:t>
              </a: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nf_max</a:t>
              </a:r>
              <a:r>
                <a:rPr lang="en-US" sz="700" dirty="0">
                  <a:solidFill>
                    <a:schemeClr val="tx1"/>
                  </a:solidFill>
                </a:rPr>
                <a:t> (dB)</a:t>
              </a: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nf_min</a:t>
              </a:r>
              <a:r>
                <a:rPr lang="en-US" sz="700" dirty="0">
                  <a:solidFill>
                    <a:schemeClr val="tx1"/>
                  </a:solidFill>
                </a:rPr>
                <a:t> (dB)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nf0 (dB) [for </a:t>
              </a:r>
              <a:r>
                <a:rPr lang="en-US" sz="700" dirty="0" err="1">
                  <a:solidFill>
                    <a:schemeClr val="tx1"/>
                  </a:solidFill>
                </a:rPr>
                <a:t>fixed_gain</a:t>
              </a:r>
              <a:r>
                <a:rPr lang="en-US" sz="700" dirty="0">
                  <a:solidFill>
                    <a:schemeClr val="tx1"/>
                  </a:solidFill>
                </a:rPr>
                <a:t> type]</a:t>
              </a: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p_max</a:t>
              </a:r>
              <a:r>
                <a:rPr lang="en-US" sz="700" dirty="0">
                  <a:solidFill>
                    <a:schemeClr val="tx1"/>
                  </a:solidFill>
                </a:rPr>
                <a:t> (dBm)</a:t>
              </a: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variable_gain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allowed_for_design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operational</a:t>
              </a: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gain_target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delta_p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tilt_target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out_voa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endParaRPr lang="en-US" sz="7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1BD2934-0FF0-E499-E54A-8585E3D03DA3}"/>
              </a:ext>
            </a:extLst>
          </p:cNvPr>
          <p:cNvGrpSpPr/>
          <p:nvPr/>
        </p:nvGrpSpPr>
        <p:grpSpPr>
          <a:xfrm>
            <a:off x="8399320" y="134634"/>
            <a:ext cx="1560483" cy="1615181"/>
            <a:chOff x="9312926" y="1789574"/>
            <a:chExt cx="1560483" cy="1615181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B30EDDD-D8FB-7747-694C-4E020D9D447E}"/>
                </a:ext>
              </a:extLst>
            </p:cNvPr>
            <p:cNvSpPr/>
            <p:nvPr/>
          </p:nvSpPr>
          <p:spPr>
            <a:xfrm>
              <a:off x="9312926" y="1789574"/>
              <a:ext cx="1560482" cy="3644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Fiber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4E469CA-1356-5EA5-788B-CF15E559883D}"/>
                </a:ext>
              </a:extLst>
            </p:cNvPr>
            <p:cNvSpPr/>
            <p:nvPr/>
          </p:nvSpPr>
          <p:spPr>
            <a:xfrm>
              <a:off x="9312927" y="2154009"/>
              <a:ext cx="1560482" cy="1250746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Name (filename)</a:t>
              </a: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type_variety</a:t>
              </a:r>
              <a:r>
                <a:rPr lang="en-US" sz="700" dirty="0">
                  <a:solidFill>
                    <a:schemeClr val="tx1"/>
                  </a:solidFill>
                </a:rPr>
                <a:t> *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dispersion (s/m²)</a:t>
              </a: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effective_area</a:t>
              </a:r>
              <a:r>
                <a:rPr lang="en-US" sz="700" dirty="0">
                  <a:solidFill>
                    <a:schemeClr val="tx1"/>
                  </a:solidFill>
                </a:rPr>
                <a:t> (m²)</a:t>
              </a: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dispersion_slope</a:t>
              </a:r>
              <a:r>
                <a:rPr lang="en-US" sz="700" dirty="0">
                  <a:solidFill>
                    <a:schemeClr val="tx1"/>
                  </a:solidFill>
                </a:rPr>
                <a:t> (s/m³) [optional]</a:t>
              </a: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pmd_coef</a:t>
              </a:r>
              <a:r>
                <a:rPr lang="en-US" sz="700" dirty="0">
                  <a:solidFill>
                    <a:schemeClr val="tx1"/>
                  </a:solidFill>
                </a:rPr>
                <a:t> (s/√m)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gamma (1/W/m) [optional, 0=auto]</a:t>
              </a: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lumped_losses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raman_coefficient</a:t>
              </a:r>
              <a:endParaRPr lang="en-US" sz="700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37D40A9F-65C9-C59D-E1B4-11DE450836D1}"/>
              </a:ext>
            </a:extLst>
          </p:cNvPr>
          <p:cNvSpPr/>
          <p:nvPr/>
        </p:nvSpPr>
        <p:spPr>
          <a:xfrm>
            <a:off x="7351963" y="2776329"/>
            <a:ext cx="534232" cy="222492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Modes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B61FD0-B2D3-980F-6A52-A074559EED98}"/>
              </a:ext>
            </a:extLst>
          </p:cNvPr>
          <p:cNvSpPr/>
          <p:nvPr/>
        </p:nvSpPr>
        <p:spPr>
          <a:xfrm>
            <a:off x="7351964" y="1789574"/>
            <a:ext cx="1560482" cy="3644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Transceiver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C8CEF4-C753-0156-A6A6-C3C9C8989063}"/>
              </a:ext>
            </a:extLst>
          </p:cNvPr>
          <p:cNvSpPr/>
          <p:nvPr/>
        </p:nvSpPr>
        <p:spPr>
          <a:xfrm>
            <a:off x="7351965" y="2154010"/>
            <a:ext cx="1560482" cy="6223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Name (filename)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type_variety</a:t>
            </a:r>
            <a:r>
              <a:rPr lang="en-US" sz="700" dirty="0">
                <a:solidFill>
                  <a:schemeClr val="tx1"/>
                </a:solidFill>
              </a:rPr>
              <a:t> *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freq_min</a:t>
            </a:r>
            <a:r>
              <a:rPr lang="en-US" sz="700" dirty="0">
                <a:solidFill>
                  <a:schemeClr val="tx1"/>
                </a:solidFill>
              </a:rPr>
              <a:t> (Hz)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freq_max</a:t>
            </a:r>
            <a:r>
              <a:rPr lang="en-US" sz="700" dirty="0">
                <a:solidFill>
                  <a:schemeClr val="tx1"/>
                </a:solidFill>
              </a:rPr>
              <a:t> (Hz)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4CE17F2-275A-5829-0C61-8500CBD6C0F7}"/>
              </a:ext>
            </a:extLst>
          </p:cNvPr>
          <p:cNvSpPr/>
          <p:nvPr/>
        </p:nvSpPr>
        <p:spPr>
          <a:xfrm>
            <a:off x="7886194" y="2776330"/>
            <a:ext cx="1026252" cy="22249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format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baud_rate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OSNR (dB)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bit_rate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roll_off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tx_osnr</a:t>
            </a:r>
            <a:r>
              <a:rPr lang="en-US" sz="700" dirty="0">
                <a:solidFill>
                  <a:schemeClr val="tx1"/>
                </a:solidFill>
              </a:rPr>
              <a:t> (dB)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min_spacing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cost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equalization_offset_db</a:t>
            </a:r>
            <a:r>
              <a:rPr lang="en-US" sz="700" dirty="0">
                <a:solidFill>
                  <a:schemeClr val="tx1"/>
                </a:solidFill>
              </a:rPr>
              <a:t> [optional]</a:t>
            </a:r>
          </a:p>
          <a:p>
            <a:pPr>
              <a:spcAft>
                <a:spcPts val="200"/>
              </a:spcAft>
            </a:pP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Penalties</a:t>
            </a:r>
          </a:p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{"</a:t>
            </a:r>
            <a:r>
              <a:rPr lang="en-US" sz="700" dirty="0" err="1">
                <a:solidFill>
                  <a:schemeClr val="tx1"/>
                </a:solidFill>
              </a:rPr>
              <a:t>chromatic_dispersion</a:t>
            </a:r>
            <a:r>
              <a:rPr lang="en-US" sz="700" dirty="0">
                <a:solidFill>
                  <a:schemeClr val="tx1"/>
                </a:solidFill>
              </a:rPr>
              <a:t>": -1e3, "</a:t>
            </a:r>
            <a:r>
              <a:rPr lang="en-US" sz="700" dirty="0" err="1">
                <a:solidFill>
                  <a:schemeClr val="tx1"/>
                </a:solidFill>
              </a:rPr>
              <a:t>penalty_value</a:t>
            </a:r>
            <a:r>
              <a:rPr lang="en-US" sz="700" dirty="0">
                <a:solidFill>
                  <a:schemeClr val="tx1"/>
                </a:solidFill>
              </a:rPr>
              <a:t>": 0}</a:t>
            </a:r>
          </a:p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{"pdl": 2,</a:t>
            </a:r>
          </a:p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"</a:t>
            </a:r>
            <a:r>
              <a:rPr lang="en-US" sz="700" dirty="0" err="1">
                <a:solidFill>
                  <a:schemeClr val="tx1"/>
                </a:solidFill>
              </a:rPr>
              <a:t>penalty_value</a:t>
            </a:r>
            <a:r>
              <a:rPr lang="en-US" sz="700" dirty="0">
                <a:solidFill>
                  <a:schemeClr val="tx1"/>
                </a:solidFill>
              </a:rPr>
              <a:t>": 1}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7AEAA3C-F74F-BCD3-2A7D-CDAFA8684893}"/>
              </a:ext>
            </a:extLst>
          </p:cNvPr>
          <p:cNvGrpSpPr/>
          <p:nvPr/>
        </p:nvGrpSpPr>
        <p:grpSpPr>
          <a:xfrm>
            <a:off x="9838365" y="1960267"/>
            <a:ext cx="2260375" cy="1444488"/>
            <a:chOff x="9312926" y="3663697"/>
            <a:chExt cx="1560483" cy="1444488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AB758EA-E9C6-6C36-D07E-DE52FAEC47D7}"/>
                </a:ext>
              </a:extLst>
            </p:cNvPr>
            <p:cNvSpPr/>
            <p:nvPr/>
          </p:nvSpPr>
          <p:spPr>
            <a:xfrm>
              <a:off x="9312926" y="3663697"/>
              <a:ext cx="1560482" cy="3644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 err="1">
                  <a:solidFill>
                    <a:schemeClr val="tx1"/>
                  </a:solidFill>
                </a:rPr>
                <a:t>Roadm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34AFCC9-6E48-9FD2-6A89-396F1ED9C374}"/>
                </a:ext>
              </a:extLst>
            </p:cNvPr>
            <p:cNvSpPr/>
            <p:nvPr/>
          </p:nvSpPr>
          <p:spPr>
            <a:xfrm>
              <a:off x="9312927" y="4028132"/>
              <a:ext cx="1560482" cy="1080053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Name (filename)</a:t>
              </a: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type_variety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target_pch_out_db</a:t>
              </a:r>
              <a:r>
                <a:rPr lang="en-US" sz="700" dirty="0">
                  <a:solidFill>
                    <a:schemeClr val="tx1"/>
                  </a:solidFill>
                </a:rPr>
                <a:t> or </a:t>
              </a:r>
              <a:r>
                <a:rPr lang="en-US" sz="700" dirty="0" err="1">
                  <a:solidFill>
                    <a:schemeClr val="tx1"/>
                  </a:solidFill>
                </a:rPr>
                <a:t>target_psd_out_mWperGHz</a:t>
              </a:r>
              <a:r>
                <a:rPr lang="en-US" sz="700" dirty="0">
                  <a:solidFill>
                    <a:schemeClr val="tx1"/>
                  </a:solidFill>
                </a:rPr>
                <a:t> or </a:t>
              </a:r>
              <a:r>
                <a:rPr lang="en-US" sz="700" dirty="0" err="1">
                  <a:solidFill>
                    <a:schemeClr val="tx1"/>
                  </a:solidFill>
                </a:rPr>
                <a:t>target_out_mWperSlotWidth</a:t>
              </a:r>
              <a:r>
                <a:rPr lang="en-US" sz="700" dirty="0">
                  <a:solidFill>
                    <a:schemeClr val="tx1"/>
                  </a:solidFill>
                </a:rPr>
                <a:t> </a:t>
              </a: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pmd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add_drop_osnr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pdl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DD7007B-1BA1-EF7F-C952-DBEBA1315430}"/>
              </a:ext>
            </a:extLst>
          </p:cNvPr>
          <p:cNvGrpSpPr/>
          <p:nvPr/>
        </p:nvGrpSpPr>
        <p:grpSpPr>
          <a:xfrm>
            <a:off x="5484194" y="1289304"/>
            <a:ext cx="1560483" cy="2115451"/>
            <a:chOff x="5484194" y="1289304"/>
            <a:chExt cx="1560483" cy="211545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04224E2-0DF7-9C24-472F-39616EADEA9A}"/>
                </a:ext>
              </a:extLst>
            </p:cNvPr>
            <p:cNvSpPr/>
            <p:nvPr/>
          </p:nvSpPr>
          <p:spPr>
            <a:xfrm>
              <a:off x="5484194" y="1289304"/>
              <a:ext cx="1560482" cy="3644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SI/Sim params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911C0CC-CC6D-5E70-BA8A-DD766F251A50}"/>
                </a:ext>
              </a:extLst>
            </p:cNvPr>
            <p:cNvSpPr/>
            <p:nvPr/>
          </p:nvSpPr>
          <p:spPr>
            <a:xfrm>
              <a:off x="5484195" y="1653739"/>
              <a:ext cx="1560482" cy="1751016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Name (filename)</a:t>
              </a: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type_variety</a:t>
              </a:r>
              <a:r>
                <a:rPr lang="en-US" sz="700" dirty="0">
                  <a:solidFill>
                    <a:schemeClr val="tx1"/>
                  </a:solidFill>
                </a:rPr>
                <a:t> [optional, for multiband]</a:t>
              </a: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f_min</a:t>
              </a:r>
              <a:r>
                <a:rPr lang="en-US" sz="700" dirty="0">
                  <a:solidFill>
                    <a:schemeClr val="tx1"/>
                  </a:solidFill>
                </a:rPr>
                <a:t> (Hz)</a:t>
              </a: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baud_rate</a:t>
              </a:r>
              <a:r>
                <a:rPr lang="en-US" sz="700" dirty="0">
                  <a:solidFill>
                    <a:schemeClr val="tx1"/>
                  </a:solidFill>
                </a:rPr>
                <a:t> (Hz)</a:t>
              </a: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power_dbm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f_max</a:t>
              </a:r>
              <a:r>
                <a:rPr lang="en-US" sz="700" dirty="0">
                  <a:solidFill>
                    <a:schemeClr val="tx1"/>
                  </a:solidFill>
                </a:rPr>
                <a:t> (Hz)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spacing (Hz)</a:t>
              </a: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tx_power_dbm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roll_off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tx_osnr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sys_margins</a:t>
              </a:r>
              <a:endParaRPr lang="en-US" sz="7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D3BFFD3-441F-5B91-42CA-31B993E0BD75}"/>
              </a:ext>
            </a:extLst>
          </p:cNvPr>
          <p:cNvGrpSpPr/>
          <p:nvPr/>
        </p:nvGrpSpPr>
        <p:grpSpPr>
          <a:xfrm>
            <a:off x="4237343" y="4743750"/>
            <a:ext cx="1560483" cy="1404730"/>
            <a:chOff x="9312926" y="3663697"/>
            <a:chExt cx="1560483" cy="140473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FA1E609-E403-8A37-9EB0-4BA0A3E6DCA8}"/>
                </a:ext>
              </a:extLst>
            </p:cNvPr>
            <p:cNvSpPr/>
            <p:nvPr/>
          </p:nvSpPr>
          <p:spPr>
            <a:xfrm>
              <a:off x="9312926" y="3663697"/>
              <a:ext cx="1560482" cy="3644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 err="1">
                  <a:solidFill>
                    <a:schemeClr val="tx1"/>
                  </a:solidFill>
                </a:rPr>
                <a:t>RamanFiber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E62ABF1-7BDA-27DA-658C-51A05B269820}"/>
                </a:ext>
              </a:extLst>
            </p:cNvPr>
            <p:cNvSpPr/>
            <p:nvPr/>
          </p:nvSpPr>
          <p:spPr>
            <a:xfrm>
              <a:off x="9312927" y="4028132"/>
              <a:ext cx="1560482" cy="104029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type_variety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dispersion</a:t>
              </a: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effective_area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pmd_coef</a:t>
              </a:r>
              <a:endParaRPr lang="en-US" sz="7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A2D45DF-A6A8-15F8-6768-8597111F24E0}"/>
              </a:ext>
            </a:extLst>
          </p:cNvPr>
          <p:cNvGrpSpPr/>
          <p:nvPr/>
        </p:nvGrpSpPr>
        <p:grpSpPr>
          <a:xfrm>
            <a:off x="3082193" y="1346349"/>
            <a:ext cx="1560483" cy="2115451"/>
            <a:chOff x="5484194" y="1289304"/>
            <a:chExt cx="1560483" cy="2115451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2FC57E0-4236-8E1C-624B-47632EEEEDD9}"/>
                </a:ext>
              </a:extLst>
            </p:cNvPr>
            <p:cNvSpPr/>
            <p:nvPr/>
          </p:nvSpPr>
          <p:spPr>
            <a:xfrm>
              <a:off x="5484194" y="1289304"/>
              <a:ext cx="1560482" cy="3644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Span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CBECD57-4267-81FB-39C9-D42F42500056}"/>
                </a:ext>
              </a:extLst>
            </p:cNvPr>
            <p:cNvSpPr/>
            <p:nvPr/>
          </p:nvSpPr>
          <p:spPr>
            <a:xfrm>
              <a:off x="5484195" y="1653739"/>
              <a:ext cx="1560482" cy="1751016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power_mode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delta_power_range_db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max_fiber_lineic_loss_for_raman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target_extended_gain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max_length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length_units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max_loss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padding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EOL</a:t>
              </a: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con_in</a:t>
              </a:r>
              <a:endParaRPr lang="en-US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en-US" sz="700" dirty="0" err="1">
                  <a:solidFill>
                    <a:schemeClr val="tx1"/>
                  </a:solidFill>
                </a:rPr>
                <a:t>con_out</a:t>
              </a:r>
              <a:endParaRPr lang="en-US" sz="700" dirty="0">
                <a:solidFill>
                  <a:schemeClr val="tx1"/>
                </a:solidFill>
              </a:endParaRPr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FD9E9D64-60EC-18BD-128F-779FCE6BBD19}"/>
              </a:ext>
            </a:extLst>
          </p:cNvPr>
          <p:cNvSpPr/>
          <p:nvPr/>
        </p:nvSpPr>
        <p:spPr>
          <a:xfrm>
            <a:off x="9838365" y="5479576"/>
            <a:ext cx="2260374" cy="108005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b="1" dirty="0">
                <a:solidFill>
                  <a:schemeClr val="tx1"/>
                </a:solidFill>
              </a:rPr>
              <a:t>EQUALISATION CHOICES</a:t>
            </a:r>
          </a:p>
          <a:p>
            <a:pPr>
              <a:spcAft>
                <a:spcPts val="200"/>
              </a:spcAft>
            </a:pP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b="1" dirty="0" err="1">
                <a:solidFill>
                  <a:schemeClr val="tx1"/>
                </a:solidFill>
              </a:rPr>
              <a:t>target_pch_out_db</a:t>
            </a:r>
            <a:r>
              <a:rPr lang="en-US" sz="700" b="1" dirty="0">
                <a:solidFill>
                  <a:schemeClr val="tx1"/>
                </a:solidFill>
              </a:rPr>
              <a:t> </a:t>
            </a:r>
            <a:r>
              <a:rPr lang="en-US" sz="700" dirty="0">
                <a:solidFill>
                  <a:schemeClr val="tx1"/>
                </a:solidFill>
              </a:rPr>
              <a:t>targets </a:t>
            </a:r>
            <a:r>
              <a:rPr lang="en-US" sz="700" dirty="0" err="1">
                <a:solidFill>
                  <a:schemeClr val="tx1"/>
                </a:solidFill>
              </a:rPr>
              <a:t>tx_power_dbm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b="1" dirty="0" err="1">
                <a:solidFill>
                  <a:schemeClr val="tx1"/>
                </a:solidFill>
              </a:rPr>
              <a:t>target_psd_out_mWperGHz</a:t>
            </a:r>
            <a:r>
              <a:rPr lang="en-US" sz="700" b="1" dirty="0">
                <a:solidFill>
                  <a:schemeClr val="tx1"/>
                </a:solidFill>
              </a:rPr>
              <a:t> </a:t>
            </a:r>
            <a:r>
              <a:rPr lang="en-US" sz="700" dirty="0">
                <a:solidFill>
                  <a:schemeClr val="tx1"/>
                </a:solidFill>
              </a:rPr>
              <a:t>equalizes the </a:t>
            </a:r>
            <a:r>
              <a:rPr lang="en-US" sz="700" dirty="0" err="1">
                <a:solidFill>
                  <a:schemeClr val="tx1"/>
                </a:solidFill>
              </a:rPr>
              <a:t>baud_rate</a:t>
            </a:r>
            <a:r>
              <a:rPr lang="en-US" sz="700" dirty="0">
                <a:solidFill>
                  <a:schemeClr val="tx1"/>
                </a:solidFill>
              </a:rPr>
              <a:t> </a:t>
            </a:r>
          </a:p>
          <a:p>
            <a:pPr>
              <a:spcAft>
                <a:spcPts val="200"/>
              </a:spcAft>
            </a:pPr>
            <a:r>
              <a:rPr lang="en-US" sz="700" b="1" dirty="0" err="1">
                <a:solidFill>
                  <a:schemeClr val="tx1"/>
                </a:solidFill>
              </a:rPr>
              <a:t>target_out_mWperSlotWidth</a:t>
            </a:r>
            <a:r>
              <a:rPr lang="en-US" sz="700" dirty="0">
                <a:solidFill>
                  <a:schemeClr val="tx1"/>
                </a:solidFill>
              </a:rPr>
              <a:t> targets spacing 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88B962A-C2EF-52D1-61EB-1B126138B746}"/>
              </a:ext>
            </a:extLst>
          </p:cNvPr>
          <p:cNvSpPr/>
          <p:nvPr/>
        </p:nvSpPr>
        <p:spPr>
          <a:xfrm>
            <a:off x="9838365" y="3418402"/>
            <a:ext cx="534232" cy="52580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GB" sz="1100" dirty="0">
                <a:solidFill>
                  <a:schemeClr val="tx1"/>
                </a:solidFill>
              </a:rPr>
              <a:t>restrictions {}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CF447A7-F0A0-F98C-722A-686FC2F59431}"/>
              </a:ext>
            </a:extLst>
          </p:cNvPr>
          <p:cNvSpPr/>
          <p:nvPr/>
        </p:nvSpPr>
        <p:spPr>
          <a:xfrm>
            <a:off x="10372595" y="3418403"/>
            <a:ext cx="1726143" cy="52580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preamp_variety_list</a:t>
            </a:r>
            <a:r>
              <a:rPr lang="en-US" sz="700" dirty="0">
                <a:solidFill>
                  <a:schemeClr val="tx1"/>
                </a:solidFill>
              </a:rPr>
              <a:t>: [],</a:t>
            </a:r>
          </a:p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      </a:t>
            </a:r>
            <a:r>
              <a:rPr lang="en-US" sz="700" dirty="0" err="1">
                <a:solidFill>
                  <a:schemeClr val="tx1"/>
                </a:solidFill>
              </a:rPr>
              <a:t>booster_variety_list</a:t>
            </a:r>
            <a:r>
              <a:rPr lang="en-US" sz="700" dirty="0">
                <a:solidFill>
                  <a:schemeClr val="tx1"/>
                </a:solidFill>
              </a:rPr>
              <a:t>: []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12BDA05-C2D8-4547-FEF1-EA7689756754}"/>
              </a:ext>
            </a:extLst>
          </p:cNvPr>
          <p:cNvSpPr/>
          <p:nvPr/>
        </p:nvSpPr>
        <p:spPr>
          <a:xfrm>
            <a:off x="9838365" y="3957852"/>
            <a:ext cx="534232" cy="15217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GB" sz="1000" dirty="0" err="1">
                <a:solidFill>
                  <a:schemeClr val="tx1"/>
                </a:solidFill>
              </a:rPr>
              <a:t>roadm</a:t>
            </a:r>
            <a:r>
              <a:rPr lang="en-GB" sz="1000" dirty="0">
                <a:solidFill>
                  <a:schemeClr val="tx1"/>
                </a:solidFill>
              </a:rPr>
              <a:t>-path-impairments [{}]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6BBA7C3-EB97-0EBF-07B1-F7FCA7B2E284}"/>
              </a:ext>
            </a:extLst>
          </p:cNvPr>
          <p:cNvSpPr/>
          <p:nvPr/>
        </p:nvSpPr>
        <p:spPr>
          <a:xfrm>
            <a:off x="10372596" y="3944205"/>
            <a:ext cx="1726142" cy="153537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roadm</a:t>
            </a:r>
            <a:r>
              <a:rPr lang="en-US" sz="700" dirty="0">
                <a:solidFill>
                  <a:schemeClr val="tx1"/>
                </a:solidFill>
              </a:rPr>
              <a:t>-path-impairments-id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roadm</a:t>
            </a:r>
            <a:r>
              <a:rPr lang="en-US" sz="700" dirty="0">
                <a:solidFill>
                  <a:schemeClr val="tx1"/>
                </a:solidFill>
              </a:rPr>
              <a:t>-express-path: [{"frequency-range": {</a:t>
            </a:r>
          </a:p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              "lower-frequency": 191.3e12,</a:t>
            </a:r>
          </a:p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              "upper-frequency":},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roadm-pmd</a:t>
            </a:r>
            <a:r>
              <a:rPr lang="en-US" sz="700" dirty="0">
                <a:solidFill>
                  <a:schemeClr val="tx1"/>
                </a:solidFill>
              </a:rPr>
              <a:t>"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roadm</a:t>
            </a:r>
            <a:r>
              <a:rPr lang="en-US" sz="700" dirty="0">
                <a:solidFill>
                  <a:schemeClr val="tx1"/>
                </a:solidFill>
              </a:rPr>
              <a:t>-cd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roadm</a:t>
            </a:r>
            <a:r>
              <a:rPr lang="en-US" sz="700" dirty="0">
                <a:solidFill>
                  <a:schemeClr val="tx1"/>
                </a:solidFill>
              </a:rPr>
              <a:t>-pdl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roadm</a:t>
            </a:r>
            <a:r>
              <a:rPr lang="en-US" sz="700" dirty="0">
                <a:solidFill>
                  <a:schemeClr val="tx1"/>
                </a:solidFill>
              </a:rPr>
              <a:t>-</a:t>
            </a:r>
            <a:r>
              <a:rPr lang="en-US" sz="700" dirty="0" err="1">
                <a:solidFill>
                  <a:schemeClr val="tx1"/>
                </a:solidFill>
              </a:rPr>
              <a:t>inband</a:t>
            </a:r>
            <a:r>
              <a:rPr lang="en-US" sz="700" dirty="0">
                <a:solidFill>
                  <a:schemeClr val="tx1"/>
                </a:solidFill>
              </a:rPr>
              <a:t>-crosstalk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roadm-maxloss</a:t>
            </a:r>
            <a:endParaRPr lang="en-US" sz="7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14852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BD552-1A4F-89EA-439A-A245937AA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E6C7212-A8EB-BDDF-4D6C-4DF0CF702BBA}"/>
              </a:ext>
            </a:extLst>
          </p:cNvPr>
          <p:cNvSpPr/>
          <p:nvPr/>
        </p:nvSpPr>
        <p:spPr>
          <a:xfrm>
            <a:off x="479363" y="408344"/>
            <a:ext cx="1233613" cy="60544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sz="1500" dirty="0">
                <a:solidFill>
                  <a:schemeClr val="tx1"/>
                </a:solidFill>
              </a:rPr>
              <a:t>Noise models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77F5EC4-B975-B338-1728-0D74B2AA83FF}"/>
              </a:ext>
            </a:extLst>
          </p:cNvPr>
          <p:cNvSpPr/>
          <p:nvPr/>
        </p:nvSpPr>
        <p:spPr>
          <a:xfrm>
            <a:off x="9188974" y="4289995"/>
            <a:ext cx="2564378" cy="3644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'</a:t>
            </a:r>
            <a:r>
              <a:rPr lang="en-GB" sz="1200" dirty="0" err="1">
                <a:solidFill>
                  <a:schemeClr val="tx1"/>
                </a:solidFill>
              </a:rPr>
              <a:t>type_def</a:t>
            </a:r>
            <a:r>
              <a:rPr lang="en-GB" sz="1200" dirty="0">
                <a:solidFill>
                  <a:schemeClr val="tx1"/>
                </a:solidFill>
              </a:rPr>
              <a:t>': '</a:t>
            </a:r>
            <a:r>
              <a:rPr lang="en-GB" sz="1200" dirty="0" err="1">
                <a:solidFill>
                  <a:schemeClr val="tx1"/>
                </a:solidFill>
              </a:rPr>
              <a:t>variable_gain</a:t>
            </a:r>
            <a:r>
              <a:rPr lang="en-GB" sz="1200" dirty="0">
                <a:solidFill>
                  <a:schemeClr val="tx1"/>
                </a:solidFill>
              </a:rPr>
              <a:t>' 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2DF3303-3828-5B0E-27A8-5E10DE86E1DE}"/>
              </a:ext>
            </a:extLst>
          </p:cNvPr>
          <p:cNvSpPr/>
          <p:nvPr/>
        </p:nvSpPr>
        <p:spPr>
          <a:xfrm>
            <a:off x="9188974" y="6151168"/>
            <a:ext cx="2564378" cy="28108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2-coil EDFA, 2-stage NF calculation.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AD42DE-2AC6-72B7-A928-8F6C7D2285E5}"/>
              </a:ext>
            </a:extLst>
          </p:cNvPr>
          <p:cNvSpPr/>
          <p:nvPr/>
        </p:nvSpPr>
        <p:spPr>
          <a:xfrm>
            <a:off x="9188974" y="4654430"/>
            <a:ext cx="2564378" cy="150336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type_variety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type_def</a:t>
            </a:r>
            <a:r>
              <a:rPr lang="en-US" sz="700" dirty="0">
                <a:solidFill>
                  <a:schemeClr val="tx1"/>
                </a:solidFill>
              </a:rPr>
              <a:t>: </a:t>
            </a:r>
            <a:r>
              <a:rPr lang="en-US" sz="700" dirty="0" err="1">
                <a:solidFill>
                  <a:schemeClr val="tx1"/>
                </a:solidFill>
              </a:rPr>
              <a:t>variable_gain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f_min</a:t>
            </a:r>
            <a:r>
              <a:rPr lang="en-US" sz="700" dirty="0">
                <a:solidFill>
                  <a:schemeClr val="tx1"/>
                </a:solidFill>
              </a:rPr>
              <a:t>: 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f_max</a:t>
            </a:r>
            <a:r>
              <a:rPr lang="en-US" sz="700" dirty="0">
                <a:solidFill>
                  <a:schemeClr val="tx1"/>
                </a:solidFill>
              </a:rPr>
              <a:t>: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gain_flatmax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gain_min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p_max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nf_min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nf_max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out_voa_auto</a:t>
            </a:r>
            <a:r>
              <a:rPr lang="en-US" sz="700" dirty="0">
                <a:solidFill>
                  <a:schemeClr val="tx1"/>
                </a:solidFill>
              </a:rPr>
              <a:t>: Boolean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allowed_for_design</a:t>
            </a:r>
            <a:r>
              <a:rPr lang="en-US" sz="700" dirty="0">
                <a:solidFill>
                  <a:schemeClr val="tx1"/>
                </a:solidFill>
              </a:rPr>
              <a:t>: Boolean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CAF611-3F5A-4B7A-B682-C173A8247BB8}"/>
              </a:ext>
            </a:extLst>
          </p:cNvPr>
          <p:cNvSpPr/>
          <p:nvPr/>
        </p:nvSpPr>
        <p:spPr>
          <a:xfrm>
            <a:off x="6096000" y="4730168"/>
            <a:ext cx="2564378" cy="3644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'</a:t>
            </a:r>
            <a:r>
              <a:rPr lang="en-GB" sz="1200" dirty="0" err="1">
                <a:solidFill>
                  <a:schemeClr val="tx1"/>
                </a:solidFill>
              </a:rPr>
              <a:t>type_def</a:t>
            </a:r>
            <a:r>
              <a:rPr lang="en-GB" sz="1200" dirty="0">
                <a:solidFill>
                  <a:schemeClr val="tx1"/>
                </a:solidFill>
              </a:rPr>
              <a:t>': '</a:t>
            </a:r>
            <a:r>
              <a:rPr lang="en-GB" sz="1200" dirty="0" err="1">
                <a:solidFill>
                  <a:schemeClr val="tx1"/>
                </a:solidFill>
              </a:rPr>
              <a:t>fixed_gain</a:t>
            </a:r>
            <a:r>
              <a:rPr lang="en-GB" sz="1200" dirty="0">
                <a:solidFill>
                  <a:schemeClr val="tx1"/>
                </a:solidFill>
              </a:rPr>
              <a:t>'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CE3DD7-9F10-3600-922D-DB5B9787799D}"/>
              </a:ext>
            </a:extLst>
          </p:cNvPr>
          <p:cNvSpPr/>
          <p:nvPr/>
        </p:nvSpPr>
        <p:spPr>
          <a:xfrm>
            <a:off x="6096000" y="6151168"/>
            <a:ext cx="2564378" cy="28108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NF == </a:t>
            </a:r>
            <a:r>
              <a:rPr lang="en-US" sz="700" dirty="0" err="1">
                <a:solidFill>
                  <a:schemeClr val="tx1"/>
                </a:solidFill>
              </a:rPr>
              <a:t>Cte</a:t>
            </a:r>
            <a:r>
              <a:rPr lang="en-US" sz="700" dirty="0">
                <a:solidFill>
                  <a:schemeClr val="tx1"/>
                </a:solidFill>
              </a:rPr>
              <a:t> == nf0 if </a:t>
            </a:r>
            <a:r>
              <a:rPr lang="en-US" sz="700" dirty="0" err="1">
                <a:solidFill>
                  <a:schemeClr val="tx1"/>
                </a:solidFill>
              </a:rPr>
              <a:t>gain_min</a:t>
            </a:r>
            <a:r>
              <a:rPr lang="en-US" sz="700" dirty="0">
                <a:solidFill>
                  <a:schemeClr val="tx1"/>
                </a:solidFill>
              </a:rPr>
              <a:t> &lt; gain &lt; </a:t>
            </a:r>
            <a:r>
              <a:rPr lang="en-US" sz="700" dirty="0" err="1">
                <a:solidFill>
                  <a:schemeClr val="tx1"/>
                </a:solidFill>
              </a:rPr>
              <a:t>gain_flatmax</a:t>
            </a:r>
            <a:endParaRPr lang="en-US" sz="7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9BE1AD-DBD3-0104-C24F-36E7CB071CDC}"/>
              </a:ext>
            </a:extLst>
          </p:cNvPr>
          <p:cNvSpPr/>
          <p:nvPr/>
        </p:nvSpPr>
        <p:spPr>
          <a:xfrm>
            <a:off x="6096000" y="5094603"/>
            <a:ext cx="2564378" cy="105656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type_variety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type_def</a:t>
            </a:r>
            <a:r>
              <a:rPr lang="en-US" sz="700" dirty="0">
                <a:solidFill>
                  <a:schemeClr val="tx1"/>
                </a:solidFill>
              </a:rPr>
              <a:t>: "</a:t>
            </a:r>
            <a:r>
              <a:rPr lang="en-US" sz="700" dirty="0" err="1">
                <a:solidFill>
                  <a:schemeClr val="tx1"/>
                </a:solidFill>
              </a:rPr>
              <a:t>fixed_gain</a:t>
            </a:r>
            <a:r>
              <a:rPr lang="en-US" sz="700" dirty="0">
                <a:solidFill>
                  <a:schemeClr val="tx1"/>
                </a:solidFill>
              </a:rPr>
              <a:t>"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gain_flatmax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gain_min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p_max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nf0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allowed_for_design</a:t>
            </a:r>
            <a:endParaRPr lang="en-US" sz="7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E2A1C1-FD0F-AB9A-561E-BCF071C8C8AD}"/>
              </a:ext>
            </a:extLst>
          </p:cNvPr>
          <p:cNvSpPr/>
          <p:nvPr/>
        </p:nvSpPr>
        <p:spPr>
          <a:xfrm>
            <a:off x="3044634" y="668542"/>
            <a:ext cx="2564378" cy="3644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'</a:t>
            </a:r>
            <a:r>
              <a:rPr lang="en-GB" sz="1200" dirty="0" err="1">
                <a:solidFill>
                  <a:schemeClr val="tx1"/>
                </a:solidFill>
              </a:rPr>
              <a:t>type_def</a:t>
            </a:r>
            <a:r>
              <a:rPr lang="en-GB" sz="1200" dirty="0">
                <a:solidFill>
                  <a:schemeClr val="tx1"/>
                </a:solidFill>
              </a:rPr>
              <a:t>': '</a:t>
            </a:r>
            <a:r>
              <a:rPr lang="en-GB" sz="1200" dirty="0" err="1">
                <a:solidFill>
                  <a:schemeClr val="tx1"/>
                </a:solidFill>
              </a:rPr>
              <a:t>openroadm</a:t>
            </a:r>
            <a:r>
              <a:rPr lang="en-GB" sz="1200" dirty="0">
                <a:solidFill>
                  <a:schemeClr val="tx1"/>
                </a:solidFill>
              </a:rPr>
              <a:t>'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BBA7C44-281D-1BB4-B430-29822555ACA7}"/>
              </a:ext>
            </a:extLst>
          </p:cNvPr>
          <p:cNvSpPr/>
          <p:nvPr/>
        </p:nvSpPr>
        <p:spPr>
          <a:xfrm>
            <a:off x="3044634" y="2175981"/>
            <a:ext cx="2564378" cy="66592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incremental OSNR contribution as a function of input power.</a:t>
            </a:r>
          </a:p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inline amplifiers that conform to the </a:t>
            </a:r>
            <a:r>
              <a:rPr lang="en-US" sz="700" dirty="0" err="1">
                <a:solidFill>
                  <a:schemeClr val="tx1"/>
                </a:solidFill>
              </a:rPr>
              <a:t>OpenROADM</a:t>
            </a:r>
            <a:r>
              <a:rPr lang="en-US" sz="700" dirty="0">
                <a:solidFill>
                  <a:schemeClr val="tx1"/>
                </a:solidFill>
              </a:rPr>
              <a:t> specification.  Input is coefficients of the third-degree polynomial.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636FA75-2A9D-C569-5B34-FE0A5BCC0770}"/>
              </a:ext>
            </a:extLst>
          </p:cNvPr>
          <p:cNvSpPr/>
          <p:nvPr/>
        </p:nvSpPr>
        <p:spPr>
          <a:xfrm>
            <a:off x="3044634" y="1032977"/>
            <a:ext cx="2564378" cy="11430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type_variety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type_def</a:t>
            </a:r>
            <a:r>
              <a:rPr lang="en-US" sz="700" dirty="0">
                <a:solidFill>
                  <a:schemeClr val="tx1"/>
                </a:solidFill>
              </a:rPr>
              <a:t>: </a:t>
            </a:r>
            <a:r>
              <a:rPr lang="en-US" sz="700" dirty="0" err="1">
                <a:solidFill>
                  <a:schemeClr val="tx1"/>
                </a:solidFill>
              </a:rPr>
              <a:t>openroadm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gain_flatmax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gain_min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p_max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nf_coef</a:t>
            </a:r>
            <a:r>
              <a:rPr lang="en-US" sz="700" dirty="0">
                <a:solidFill>
                  <a:schemeClr val="tx1"/>
                </a:solidFill>
              </a:rPr>
              <a:t>: []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allowed_for_design</a:t>
            </a:r>
            <a:endParaRPr lang="en-US" sz="700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E43CC3F-2871-EE3C-47F0-4BA24DCDF797}"/>
              </a:ext>
            </a:extLst>
          </p:cNvPr>
          <p:cNvSpPr/>
          <p:nvPr/>
        </p:nvSpPr>
        <p:spPr>
          <a:xfrm>
            <a:off x="3044634" y="3010497"/>
            <a:ext cx="2564378" cy="3644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'</a:t>
            </a:r>
            <a:r>
              <a:rPr lang="en-GB" sz="1200" dirty="0" err="1">
                <a:solidFill>
                  <a:schemeClr val="tx1"/>
                </a:solidFill>
              </a:rPr>
              <a:t>type_def</a:t>
            </a:r>
            <a:r>
              <a:rPr lang="en-GB" sz="1200" dirty="0">
                <a:solidFill>
                  <a:schemeClr val="tx1"/>
                </a:solidFill>
              </a:rPr>
              <a:t>': '</a:t>
            </a:r>
            <a:r>
              <a:rPr lang="en-GB" sz="1200" dirty="0" err="1">
                <a:solidFill>
                  <a:schemeClr val="tx1"/>
                </a:solidFill>
              </a:rPr>
              <a:t>openroadm_preamp</a:t>
            </a:r>
            <a:r>
              <a:rPr lang="en-GB" sz="1200" dirty="0">
                <a:solidFill>
                  <a:schemeClr val="tx1"/>
                </a:solidFill>
              </a:rPr>
              <a:t>'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7EFEAFA-976D-26EB-97A6-74EACD7D7612}"/>
              </a:ext>
            </a:extLst>
          </p:cNvPr>
          <p:cNvSpPr/>
          <p:nvPr/>
        </p:nvSpPr>
        <p:spPr>
          <a:xfrm>
            <a:off x="3044634" y="4260313"/>
            <a:ext cx="2564378" cy="34124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No extra parameters specific to the NF model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214EBF4-8E0D-4275-95A9-2F353F41CFC9}"/>
              </a:ext>
            </a:extLst>
          </p:cNvPr>
          <p:cNvSpPr/>
          <p:nvPr/>
        </p:nvSpPr>
        <p:spPr>
          <a:xfrm>
            <a:off x="3044634" y="3360552"/>
            <a:ext cx="2564378" cy="89976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type_variety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type_def</a:t>
            </a:r>
            <a:r>
              <a:rPr lang="en-US" sz="700" dirty="0">
                <a:solidFill>
                  <a:schemeClr val="tx1"/>
                </a:solidFill>
              </a:rPr>
              <a:t>: "</a:t>
            </a:r>
            <a:r>
              <a:rPr lang="en-US" sz="700" dirty="0" err="1">
                <a:solidFill>
                  <a:schemeClr val="tx1"/>
                </a:solidFill>
              </a:rPr>
              <a:t>openroadm_preamp</a:t>
            </a:r>
            <a:r>
              <a:rPr lang="en-US" sz="700" dirty="0">
                <a:solidFill>
                  <a:schemeClr val="tx1"/>
                </a:solidFill>
              </a:rPr>
              <a:t>"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gain_flatmax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gain_min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p_max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allowed_for_design</a:t>
            </a:r>
            <a:endParaRPr lang="en-US" sz="700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04EEAC6-3CE9-0CD4-D7C2-96B5FE314498}"/>
              </a:ext>
            </a:extLst>
          </p:cNvPr>
          <p:cNvSpPr/>
          <p:nvPr/>
        </p:nvSpPr>
        <p:spPr>
          <a:xfrm>
            <a:off x="3044745" y="4826810"/>
            <a:ext cx="2564378" cy="3644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'</a:t>
            </a:r>
            <a:r>
              <a:rPr lang="en-GB" sz="1200" dirty="0" err="1">
                <a:solidFill>
                  <a:schemeClr val="tx1"/>
                </a:solidFill>
              </a:rPr>
              <a:t>type_def</a:t>
            </a:r>
            <a:r>
              <a:rPr lang="en-GB" sz="1200" dirty="0">
                <a:solidFill>
                  <a:schemeClr val="tx1"/>
                </a:solidFill>
              </a:rPr>
              <a:t>': '</a:t>
            </a:r>
            <a:r>
              <a:rPr lang="en-GB" sz="1200" dirty="0" err="1">
                <a:solidFill>
                  <a:schemeClr val="tx1"/>
                </a:solidFill>
              </a:rPr>
              <a:t>openroadm_booster</a:t>
            </a:r>
            <a:r>
              <a:rPr lang="en-GB" sz="1200" dirty="0">
                <a:solidFill>
                  <a:schemeClr val="tx1"/>
                </a:solidFill>
              </a:rPr>
              <a:t>' 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2B5BFC3-5F58-03B4-03FD-AF1DFB0B385B}"/>
              </a:ext>
            </a:extLst>
          </p:cNvPr>
          <p:cNvSpPr/>
          <p:nvPr/>
        </p:nvSpPr>
        <p:spPr>
          <a:xfrm>
            <a:off x="3044745" y="6091005"/>
            <a:ext cx="2564378" cy="34124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No extra parameters specific to the NF model are accepted.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8C5745F-0390-D066-4BDB-2BCD05C2C2DC}"/>
              </a:ext>
            </a:extLst>
          </p:cNvPr>
          <p:cNvSpPr/>
          <p:nvPr/>
        </p:nvSpPr>
        <p:spPr>
          <a:xfrm>
            <a:off x="9188974" y="632369"/>
            <a:ext cx="2564378" cy="3644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'</a:t>
            </a:r>
            <a:r>
              <a:rPr lang="en-GB" sz="1200" dirty="0" err="1">
                <a:solidFill>
                  <a:schemeClr val="tx1"/>
                </a:solidFill>
              </a:rPr>
              <a:t>type_def</a:t>
            </a:r>
            <a:r>
              <a:rPr lang="en-GB" sz="1200" dirty="0">
                <a:solidFill>
                  <a:schemeClr val="tx1"/>
                </a:solidFill>
              </a:rPr>
              <a:t>': '</a:t>
            </a:r>
            <a:r>
              <a:rPr lang="en-GB" sz="1200" dirty="0" err="1">
                <a:solidFill>
                  <a:schemeClr val="tx1"/>
                </a:solidFill>
              </a:rPr>
              <a:t>advanced_model</a:t>
            </a:r>
            <a:r>
              <a:rPr lang="en-GB" sz="1200" dirty="0">
                <a:solidFill>
                  <a:schemeClr val="tx1"/>
                </a:solidFill>
              </a:rPr>
              <a:t>'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2D1C032-E0A9-4017-89D0-8ABAA86499C6}"/>
              </a:ext>
            </a:extLst>
          </p:cNvPr>
          <p:cNvSpPr/>
          <p:nvPr/>
        </p:nvSpPr>
        <p:spPr>
          <a:xfrm>
            <a:off x="9188974" y="3069932"/>
            <a:ext cx="2564378" cy="57647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A detailed JSON configuration file is required (by default </a:t>
            </a:r>
            <a:r>
              <a:rPr lang="en-US" sz="700" dirty="0" err="1">
                <a:solidFill>
                  <a:schemeClr val="tx1"/>
                </a:solidFill>
              </a:rPr>
              <a:t>gnpy</a:t>
            </a:r>
            <a:r>
              <a:rPr lang="en-US" sz="700" dirty="0">
                <a:solidFill>
                  <a:schemeClr val="tx1"/>
                </a:solidFill>
              </a:rPr>
              <a:t>/example data/</a:t>
            </a:r>
            <a:r>
              <a:rPr lang="en-US" sz="700" dirty="0" err="1">
                <a:solidFill>
                  <a:schemeClr val="tx1"/>
                </a:solidFill>
              </a:rPr>
              <a:t>std_medium_gain_advanced_config.json</a:t>
            </a:r>
            <a:r>
              <a:rPr lang="en-US" sz="700" dirty="0">
                <a:solidFill>
                  <a:schemeClr val="tx1"/>
                </a:solidFill>
              </a:rPr>
              <a:t>). </a:t>
            </a:r>
          </a:p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It uses a 3rd order polynomial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3008A70-3CA6-F0CC-B773-0F0943E090CD}"/>
              </a:ext>
            </a:extLst>
          </p:cNvPr>
          <p:cNvSpPr/>
          <p:nvPr/>
        </p:nvSpPr>
        <p:spPr>
          <a:xfrm>
            <a:off x="9188974" y="996804"/>
            <a:ext cx="2564378" cy="114216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type_variety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type_def</a:t>
            </a:r>
            <a:r>
              <a:rPr lang="en-US" sz="700" dirty="0">
                <a:solidFill>
                  <a:schemeClr val="tx1"/>
                </a:solidFill>
              </a:rPr>
              <a:t>: "</a:t>
            </a:r>
            <a:r>
              <a:rPr lang="en-US" sz="700" dirty="0" err="1">
                <a:solidFill>
                  <a:schemeClr val="tx1"/>
                </a:solidFill>
              </a:rPr>
              <a:t>advanced_model</a:t>
            </a:r>
            <a:r>
              <a:rPr lang="en-US" sz="700" dirty="0">
                <a:solidFill>
                  <a:schemeClr val="tx1"/>
                </a:solidFill>
              </a:rPr>
              <a:t>"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gain_flatmax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gain_min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p_max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out_voa_auto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allowed_for_design</a:t>
            </a:r>
            <a:endParaRPr lang="en-US" sz="700" dirty="0">
              <a:solidFill>
                <a:schemeClr val="tx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56DB050-D32D-3027-639E-762FE8D36AC4}"/>
              </a:ext>
            </a:extLst>
          </p:cNvPr>
          <p:cNvSpPr/>
          <p:nvPr/>
        </p:nvSpPr>
        <p:spPr>
          <a:xfrm>
            <a:off x="6096000" y="2622568"/>
            <a:ext cx="2564378" cy="3644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'</a:t>
            </a:r>
            <a:r>
              <a:rPr lang="en-GB" sz="1200" dirty="0" err="1">
                <a:solidFill>
                  <a:schemeClr val="tx1"/>
                </a:solidFill>
              </a:rPr>
              <a:t>type_def</a:t>
            </a:r>
            <a:r>
              <a:rPr lang="en-GB" sz="1200" dirty="0">
                <a:solidFill>
                  <a:schemeClr val="tx1"/>
                </a:solidFill>
              </a:rPr>
              <a:t>': '</a:t>
            </a:r>
            <a:r>
              <a:rPr lang="en-GB" sz="1200" dirty="0" err="1">
                <a:solidFill>
                  <a:schemeClr val="tx1"/>
                </a:solidFill>
              </a:rPr>
              <a:t>multi_band</a:t>
            </a:r>
            <a:r>
              <a:rPr lang="en-GB" sz="1200" dirty="0">
                <a:solidFill>
                  <a:schemeClr val="tx1"/>
                </a:solidFill>
              </a:rPr>
              <a:t>'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53249EC-3133-FC75-6712-80C4451C59BA}"/>
              </a:ext>
            </a:extLst>
          </p:cNvPr>
          <p:cNvSpPr/>
          <p:nvPr/>
        </p:nvSpPr>
        <p:spPr>
          <a:xfrm>
            <a:off x="6096000" y="3814109"/>
            <a:ext cx="2564378" cy="57647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list of single-band amplifier type varieties with a different band of the spectrum. Several options can be listed for the same spectrum band. Only one can be selected for the actual </a:t>
            </a:r>
            <a:r>
              <a:rPr lang="en-US" sz="700" dirty="0" err="1">
                <a:solidFill>
                  <a:schemeClr val="tx1"/>
                </a:solidFill>
              </a:rPr>
              <a:t>Multiband_amplifier</a:t>
            </a:r>
            <a:r>
              <a:rPr lang="en-US" sz="700" dirty="0">
                <a:solidFill>
                  <a:schemeClr val="tx1"/>
                </a:solidFill>
              </a:rPr>
              <a:t> element.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73B2468-AC82-E982-D6C1-BA9C79F16035}"/>
              </a:ext>
            </a:extLst>
          </p:cNvPr>
          <p:cNvSpPr/>
          <p:nvPr/>
        </p:nvSpPr>
        <p:spPr>
          <a:xfrm>
            <a:off x="6096000" y="2987004"/>
            <a:ext cx="2564378" cy="57647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type_variety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type_def</a:t>
            </a:r>
            <a:r>
              <a:rPr lang="en-US" sz="700" dirty="0">
                <a:solidFill>
                  <a:schemeClr val="tx1"/>
                </a:solidFill>
              </a:rPr>
              <a:t>": "</a:t>
            </a:r>
            <a:r>
              <a:rPr lang="en-US" sz="700" dirty="0" err="1">
                <a:solidFill>
                  <a:schemeClr val="tx1"/>
                </a:solidFill>
              </a:rPr>
              <a:t>multi_band</a:t>
            </a:r>
            <a:r>
              <a:rPr lang="en-US" sz="700" dirty="0">
                <a:solidFill>
                  <a:schemeClr val="tx1"/>
                </a:solidFill>
              </a:rPr>
              <a:t>"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allowed_for_design</a:t>
            </a:r>
            <a:endParaRPr lang="en-US" sz="700" dirty="0">
              <a:solidFill>
                <a:schemeClr val="tx1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58A4FBD-FA23-4DB0-5D00-023FC1E8F64E}"/>
              </a:ext>
            </a:extLst>
          </p:cNvPr>
          <p:cNvSpPr/>
          <p:nvPr/>
        </p:nvSpPr>
        <p:spPr>
          <a:xfrm>
            <a:off x="10600414" y="2138964"/>
            <a:ext cx="1152938" cy="93096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nf_fit_coeff</a:t>
            </a:r>
            <a:r>
              <a:rPr lang="en-US" sz="700" dirty="0">
                <a:solidFill>
                  <a:schemeClr val="tx1"/>
                </a:solidFill>
              </a:rPr>
              <a:t>: [  ]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f_min</a:t>
            </a:r>
            <a:r>
              <a:rPr lang="en-US" sz="700" dirty="0">
                <a:solidFill>
                  <a:schemeClr val="tx1"/>
                </a:solidFill>
              </a:rPr>
              <a:t>: 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f_max</a:t>
            </a:r>
            <a:r>
              <a:rPr lang="en-US" sz="700" dirty="0">
                <a:solidFill>
                  <a:schemeClr val="tx1"/>
                </a:solidFill>
              </a:rPr>
              <a:t>: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nf_ripple</a:t>
            </a:r>
            <a:r>
              <a:rPr lang="en-US" sz="700" dirty="0">
                <a:solidFill>
                  <a:schemeClr val="tx1"/>
                </a:solidFill>
              </a:rPr>
              <a:t>:[]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dgt</a:t>
            </a:r>
            <a:r>
              <a:rPr lang="en-US" sz="700" dirty="0">
                <a:solidFill>
                  <a:schemeClr val="tx1"/>
                </a:solidFill>
              </a:rPr>
              <a:t>: []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gain_ripple</a:t>
            </a:r>
            <a:r>
              <a:rPr lang="en-US" sz="700" dirty="0">
                <a:solidFill>
                  <a:schemeClr val="tx1"/>
                </a:solidFill>
              </a:rPr>
              <a:t>: []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1B6A15B-39FF-FDDA-7845-BA925092080F}"/>
              </a:ext>
            </a:extLst>
          </p:cNvPr>
          <p:cNvSpPr/>
          <p:nvPr/>
        </p:nvSpPr>
        <p:spPr>
          <a:xfrm>
            <a:off x="9188974" y="2147246"/>
            <a:ext cx="1411440" cy="9226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advanced_config_from_json</a:t>
            </a:r>
            <a:endParaRPr lang="en-US" sz="700" dirty="0">
              <a:solidFill>
                <a:schemeClr val="tx1"/>
              </a:solidFill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0508575-D9F0-0287-825A-F8E73B9EA6FD}"/>
              </a:ext>
            </a:extLst>
          </p:cNvPr>
          <p:cNvSpPr/>
          <p:nvPr/>
        </p:nvSpPr>
        <p:spPr>
          <a:xfrm>
            <a:off x="3044745" y="5191245"/>
            <a:ext cx="2564378" cy="89976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type_variety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type_def</a:t>
            </a:r>
            <a:r>
              <a:rPr lang="en-US" sz="700" dirty="0">
                <a:solidFill>
                  <a:schemeClr val="tx1"/>
                </a:solidFill>
              </a:rPr>
              <a:t>: "</a:t>
            </a:r>
            <a:r>
              <a:rPr lang="en-US" sz="700" dirty="0" err="1">
                <a:solidFill>
                  <a:schemeClr val="tx1"/>
                </a:solidFill>
              </a:rPr>
              <a:t>openroadm_booster</a:t>
            </a:r>
            <a:r>
              <a:rPr lang="en-US" sz="700" dirty="0">
                <a:solidFill>
                  <a:schemeClr val="tx1"/>
                </a:solidFill>
              </a:rPr>
              <a:t>"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gain_flatmax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gain_min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p_max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allowed_for_design</a:t>
            </a:r>
            <a:endParaRPr lang="en-US" sz="700" dirty="0">
              <a:solidFill>
                <a:schemeClr val="tx1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4E6106A-118A-CAAE-1820-5E4BA6FDDDE2}"/>
              </a:ext>
            </a:extLst>
          </p:cNvPr>
          <p:cNvSpPr/>
          <p:nvPr/>
        </p:nvSpPr>
        <p:spPr>
          <a:xfrm>
            <a:off x="6096000" y="632369"/>
            <a:ext cx="2564378" cy="3644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 "</a:t>
            </a:r>
            <a:r>
              <a:rPr lang="en-GB" sz="1200" dirty="0" err="1">
                <a:solidFill>
                  <a:schemeClr val="tx1"/>
                </a:solidFill>
              </a:rPr>
              <a:t>type_def</a:t>
            </a:r>
            <a:r>
              <a:rPr lang="en-GB" sz="1200" dirty="0">
                <a:solidFill>
                  <a:schemeClr val="tx1"/>
                </a:solidFill>
              </a:rPr>
              <a:t>": "</a:t>
            </a:r>
            <a:r>
              <a:rPr lang="en-GB" sz="1200" dirty="0" err="1">
                <a:solidFill>
                  <a:schemeClr val="tx1"/>
                </a:solidFill>
              </a:rPr>
              <a:t>dual_stage</a:t>
            </a:r>
            <a:r>
              <a:rPr lang="en-GB" sz="1200" dirty="0">
                <a:solidFill>
                  <a:schemeClr val="tx1"/>
                </a:solidFill>
              </a:rPr>
              <a:t>"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F328B9B-4344-F514-FE8B-2795EE5E789B}"/>
              </a:ext>
            </a:extLst>
          </p:cNvPr>
          <p:cNvSpPr/>
          <p:nvPr/>
        </p:nvSpPr>
        <p:spPr>
          <a:xfrm>
            <a:off x="6096000" y="996805"/>
            <a:ext cx="2564378" cy="73679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type_variety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type_def</a:t>
            </a:r>
            <a:r>
              <a:rPr lang="en-US" sz="700" dirty="0">
                <a:solidFill>
                  <a:schemeClr val="tx1"/>
                </a:solidFill>
              </a:rPr>
              <a:t>": "</a:t>
            </a:r>
            <a:r>
              <a:rPr lang="en-US" sz="700" dirty="0" err="1">
                <a:solidFill>
                  <a:schemeClr val="tx1"/>
                </a:solidFill>
              </a:rPr>
              <a:t>dual_stage</a:t>
            </a:r>
            <a:r>
              <a:rPr lang="en-US" sz="700" dirty="0">
                <a:solidFill>
                  <a:schemeClr val="tx1"/>
                </a:solidFill>
              </a:rPr>
              <a:t>",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raman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gain_min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allowed_for_design</a:t>
            </a:r>
            <a:endParaRPr lang="en-US" sz="700" dirty="0">
              <a:solidFill>
                <a:schemeClr val="tx1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20A6038-984F-5ED0-C3C7-36D296529B0E}"/>
              </a:ext>
            </a:extLst>
          </p:cNvPr>
          <p:cNvSpPr/>
          <p:nvPr/>
        </p:nvSpPr>
        <p:spPr>
          <a:xfrm>
            <a:off x="6864642" y="1733599"/>
            <a:ext cx="1795736" cy="26324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type variety of variable/fixed gain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093C934-52E5-C5DE-0E26-569D29770C0A}"/>
              </a:ext>
            </a:extLst>
          </p:cNvPr>
          <p:cNvSpPr/>
          <p:nvPr/>
        </p:nvSpPr>
        <p:spPr>
          <a:xfrm>
            <a:off x="6096000" y="1733599"/>
            <a:ext cx="795312" cy="26324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preamp_variety</a:t>
            </a:r>
            <a:endParaRPr lang="en-US" sz="700" dirty="0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B5D3908-F744-06DA-7CE2-19B48CDDD782}"/>
              </a:ext>
            </a:extLst>
          </p:cNvPr>
          <p:cNvSpPr/>
          <p:nvPr/>
        </p:nvSpPr>
        <p:spPr>
          <a:xfrm>
            <a:off x="6864642" y="1996848"/>
            <a:ext cx="1795736" cy="26324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type variety of variable/fixed gain  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2AC852C-808C-B2F9-62C3-B44C47D865B9}"/>
              </a:ext>
            </a:extLst>
          </p:cNvPr>
          <p:cNvSpPr/>
          <p:nvPr/>
        </p:nvSpPr>
        <p:spPr>
          <a:xfrm>
            <a:off x="6096000" y="1996848"/>
            <a:ext cx="795312" cy="26324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booster_variety</a:t>
            </a:r>
            <a:endParaRPr lang="en-US" sz="700" dirty="0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E8A9DCC-22F1-5BFC-6B26-09335F6C54B3}"/>
              </a:ext>
            </a:extLst>
          </p:cNvPr>
          <p:cNvSpPr/>
          <p:nvPr/>
        </p:nvSpPr>
        <p:spPr>
          <a:xfrm>
            <a:off x="6639637" y="3566395"/>
            <a:ext cx="2020742" cy="26324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List of type variety of variable/fixed gain  []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E23F344-A6D5-787C-833D-9415B3DF46CC}"/>
              </a:ext>
            </a:extLst>
          </p:cNvPr>
          <p:cNvSpPr/>
          <p:nvPr/>
        </p:nvSpPr>
        <p:spPr>
          <a:xfrm>
            <a:off x="6096000" y="3566395"/>
            <a:ext cx="593067" cy="26324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amplifiers</a:t>
            </a:r>
          </a:p>
        </p:txBody>
      </p:sp>
    </p:spTree>
    <p:extLst>
      <p:ext uri="{BB962C8B-B14F-4D97-AF65-F5344CB8AC3E}">
        <p14:creationId xmlns:p14="http://schemas.microsoft.com/office/powerpoint/2010/main" val="37881458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EC02F-AC95-AD30-12DD-7E7DC601F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AC9EFF0-5BE7-0A45-F66C-7977BAD4D1A6}"/>
              </a:ext>
            </a:extLst>
          </p:cNvPr>
          <p:cNvSpPr/>
          <p:nvPr/>
        </p:nvSpPr>
        <p:spPr>
          <a:xfrm>
            <a:off x="479363" y="408344"/>
            <a:ext cx="3347725" cy="60544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sz="1500" dirty="0">
                <a:solidFill>
                  <a:schemeClr val="tx1"/>
                </a:solidFill>
              </a:rPr>
              <a:t>Topology</a:t>
            </a:r>
            <a:endParaRPr lang="en-US" sz="1500" dirty="0">
              <a:solidFill>
                <a:schemeClr val="tx1"/>
              </a:solidFill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4AB530E-9924-976B-1D9C-51F3846F0C75}"/>
              </a:ext>
            </a:extLst>
          </p:cNvPr>
          <p:cNvGrpSpPr/>
          <p:nvPr/>
        </p:nvGrpSpPr>
        <p:grpSpPr>
          <a:xfrm>
            <a:off x="1050195" y="1471522"/>
            <a:ext cx="1560482" cy="929233"/>
            <a:chOff x="1050195" y="1471522"/>
            <a:chExt cx="1268935" cy="92923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BAF6EC8-5501-7C8B-96EB-30930217E452}"/>
                </a:ext>
              </a:extLst>
            </p:cNvPr>
            <p:cNvSpPr/>
            <p:nvPr/>
          </p:nvSpPr>
          <p:spPr>
            <a:xfrm>
              <a:off x="1050195" y="1471522"/>
              <a:ext cx="1268933" cy="3644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EDFA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6A5CDC3-A150-ACA4-73B3-5E5AE8B27D7A}"/>
                </a:ext>
              </a:extLst>
            </p:cNvPr>
            <p:cNvSpPr/>
            <p:nvPr/>
          </p:nvSpPr>
          <p:spPr>
            <a:xfrm>
              <a:off x="1050196" y="1835957"/>
              <a:ext cx="1268934" cy="56479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200"/>
                </a:spcAft>
              </a:pPr>
              <a:r>
                <a:rPr lang="nb-NO" sz="700" dirty="0" err="1">
                  <a:solidFill>
                    <a:schemeClr val="tx1"/>
                  </a:solidFill>
                </a:rPr>
                <a:t>uid</a:t>
              </a:r>
              <a:endParaRPr lang="nb-NO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nb-NO" sz="700" dirty="0">
                  <a:solidFill>
                    <a:schemeClr val="tx1"/>
                  </a:solidFill>
                </a:rPr>
                <a:t>type: "</a:t>
              </a:r>
              <a:r>
                <a:rPr lang="nb-NO" sz="700" dirty="0" err="1">
                  <a:solidFill>
                    <a:schemeClr val="tx1"/>
                  </a:solidFill>
                </a:rPr>
                <a:t>Edfa</a:t>
              </a:r>
              <a:r>
                <a:rPr lang="nb-NO" sz="700" dirty="0">
                  <a:solidFill>
                    <a:schemeClr val="tx1"/>
                  </a:solidFill>
                </a:rPr>
                <a:t>"</a:t>
              </a:r>
            </a:p>
            <a:p>
              <a:pPr>
                <a:spcAft>
                  <a:spcPts val="200"/>
                </a:spcAft>
              </a:pPr>
              <a:r>
                <a:rPr lang="nb-NO" sz="700" dirty="0" err="1">
                  <a:solidFill>
                    <a:schemeClr val="tx1"/>
                  </a:solidFill>
                </a:rPr>
                <a:t>type_variety</a:t>
              </a:r>
              <a:endParaRPr lang="en-US" sz="7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4334F66-1A78-1D42-93AA-493454DF43B3}"/>
              </a:ext>
            </a:extLst>
          </p:cNvPr>
          <p:cNvGrpSpPr/>
          <p:nvPr/>
        </p:nvGrpSpPr>
        <p:grpSpPr>
          <a:xfrm>
            <a:off x="4237343" y="4743750"/>
            <a:ext cx="1560483" cy="1404730"/>
            <a:chOff x="9312926" y="3663697"/>
            <a:chExt cx="1560483" cy="140473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93C7655-86DE-BFBC-27A2-04E4266CB57D}"/>
                </a:ext>
              </a:extLst>
            </p:cNvPr>
            <p:cNvSpPr/>
            <p:nvPr/>
          </p:nvSpPr>
          <p:spPr>
            <a:xfrm>
              <a:off x="9312926" y="3663697"/>
              <a:ext cx="1560482" cy="3644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 err="1">
                  <a:solidFill>
                    <a:schemeClr val="tx1"/>
                  </a:solidFill>
                </a:rPr>
                <a:t>RamanFiber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AFA18EB-3FDD-650A-EB11-C1380057E94E}"/>
                </a:ext>
              </a:extLst>
            </p:cNvPr>
            <p:cNvSpPr/>
            <p:nvPr/>
          </p:nvSpPr>
          <p:spPr>
            <a:xfrm>
              <a:off x="9312927" y="4028132"/>
              <a:ext cx="1560482" cy="104029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{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"</a:t>
              </a:r>
              <a:r>
                <a:rPr lang="en-US" sz="700" dirty="0" err="1">
                  <a:solidFill>
                    <a:schemeClr val="tx1"/>
                  </a:solidFill>
                </a:rPr>
                <a:t>uid</a:t>
              </a:r>
              <a:r>
                <a:rPr lang="en-US" sz="700" dirty="0">
                  <a:solidFill>
                    <a:schemeClr val="tx1"/>
                  </a:solidFill>
                </a:rPr>
                <a:t>": "Span1",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"type": "</a:t>
              </a:r>
              <a:r>
                <a:rPr lang="en-US" sz="700" dirty="0" err="1">
                  <a:solidFill>
                    <a:schemeClr val="tx1"/>
                  </a:solidFill>
                </a:rPr>
                <a:t>RamanFiber</a:t>
              </a:r>
              <a:r>
                <a:rPr lang="en-US" sz="700" dirty="0">
                  <a:solidFill>
                    <a:schemeClr val="tx1"/>
                  </a:solidFill>
                </a:rPr>
                <a:t>",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"</a:t>
              </a:r>
              <a:r>
                <a:rPr lang="en-US" sz="700" dirty="0" err="1">
                  <a:solidFill>
                    <a:schemeClr val="tx1"/>
                  </a:solidFill>
                </a:rPr>
                <a:t>type_variety</a:t>
              </a:r>
              <a:r>
                <a:rPr lang="en-US" sz="700" dirty="0">
                  <a:solidFill>
                    <a:schemeClr val="tx1"/>
                  </a:solidFill>
                </a:rPr>
                <a:t>": "SSMF",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"operational": {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"temperature": 283,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"</a:t>
              </a:r>
              <a:r>
                <a:rPr lang="en-US" sz="700" dirty="0" err="1">
                  <a:solidFill>
                    <a:schemeClr val="tx1"/>
                  </a:solidFill>
                </a:rPr>
                <a:t>raman_pumps</a:t>
              </a:r>
              <a:r>
                <a:rPr lang="en-US" sz="700" dirty="0">
                  <a:solidFill>
                    <a:schemeClr val="tx1"/>
                  </a:solidFill>
                </a:rPr>
                <a:t>": [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  {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    "power": 224.403e-3,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    "frequency": 205e12,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    "</a:t>
              </a:r>
              <a:r>
                <a:rPr lang="en-US" sz="700" dirty="0" err="1">
                  <a:solidFill>
                    <a:schemeClr val="tx1"/>
                  </a:solidFill>
                </a:rPr>
                <a:t>propagation_direction</a:t>
              </a:r>
              <a:r>
                <a:rPr lang="en-US" sz="700" dirty="0">
                  <a:solidFill>
                    <a:schemeClr val="tx1"/>
                  </a:solidFill>
                </a:rPr>
                <a:t>": "</a:t>
              </a:r>
              <a:r>
                <a:rPr lang="en-US" sz="700" dirty="0" err="1">
                  <a:solidFill>
                    <a:schemeClr val="tx1"/>
                  </a:solidFill>
                </a:rPr>
                <a:t>counterprop</a:t>
              </a:r>
              <a:r>
                <a:rPr lang="en-US" sz="700" dirty="0">
                  <a:solidFill>
                    <a:schemeClr val="tx1"/>
                  </a:solidFill>
                </a:rPr>
                <a:t>"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  },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  {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    "power": 231.135e-3,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    "frequency": 201e12,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    "</a:t>
              </a:r>
              <a:r>
                <a:rPr lang="en-US" sz="700" dirty="0" err="1">
                  <a:solidFill>
                    <a:schemeClr val="tx1"/>
                  </a:solidFill>
                </a:rPr>
                <a:t>propagation_direction</a:t>
              </a:r>
              <a:r>
                <a:rPr lang="en-US" sz="700" dirty="0">
                  <a:solidFill>
                    <a:schemeClr val="tx1"/>
                  </a:solidFill>
                </a:rPr>
                <a:t>": "</a:t>
              </a:r>
              <a:r>
                <a:rPr lang="en-US" sz="700" dirty="0" err="1">
                  <a:solidFill>
                    <a:schemeClr val="tx1"/>
                  </a:solidFill>
                </a:rPr>
                <a:t>counterprop</a:t>
              </a:r>
              <a:r>
                <a:rPr lang="en-US" sz="700" dirty="0">
                  <a:solidFill>
                    <a:schemeClr val="tx1"/>
                  </a:solidFill>
                </a:rPr>
                <a:t>"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  }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]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},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"params": {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"</a:t>
              </a:r>
              <a:r>
                <a:rPr lang="en-US" sz="700" dirty="0" err="1">
                  <a:solidFill>
                    <a:schemeClr val="tx1"/>
                  </a:solidFill>
                </a:rPr>
                <a:t>type_variety</a:t>
              </a:r>
              <a:r>
                <a:rPr lang="en-US" sz="700" dirty="0">
                  <a:solidFill>
                    <a:schemeClr val="tx1"/>
                  </a:solidFill>
                </a:rPr>
                <a:t>": "SSMF",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"length": 80.0,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"</a:t>
              </a:r>
              <a:r>
                <a:rPr lang="en-US" sz="700" dirty="0" err="1">
                  <a:solidFill>
                    <a:schemeClr val="tx1"/>
                  </a:solidFill>
                </a:rPr>
                <a:t>loss_coef</a:t>
              </a:r>
              <a:r>
                <a:rPr lang="en-US" sz="700" dirty="0">
                  <a:solidFill>
                    <a:schemeClr val="tx1"/>
                  </a:solidFill>
                </a:rPr>
                <a:t>": {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  "value": [0.18, 0.18, 0.20, 0.20],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  "frequency": [191e12, 196e12, 200e12, 210e12]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},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"</a:t>
              </a:r>
              <a:r>
                <a:rPr lang="en-US" sz="700" dirty="0" err="1">
                  <a:solidFill>
                    <a:schemeClr val="tx1"/>
                  </a:solidFill>
                </a:rPr>
                <a:t>length_units</a:t>
              </a:r>
              <a:r>
                <a:rPr lang="en-US" sz="700" dirty="0">
                  <a:solidFill>
                    <a:schemeClr val="tx1"/>
                  </a:solidFill>
                </a:rPr>
                <a:t>": "km",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"</a:t>
              </a:r>
              <a:r>
                <a:rPr lang="en-US" sz="700" dirty="0" err="1">
                  <a:solidFill>
                    <a:schemeClr val="tx1"/>
                  </a:solidFill>
                </a:rPr>
                <a:t>att_in</a:t>
              </a:r>
              <a:r>
                <a:rPr lang="en-US" sz="700" dirty="0">
                  <a:solidFill>
                    <a:schemeClr val="tx1"/>
                  </a:solidFill>
                </a:rPr>
                <a:t>": 0,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"</a:t>
              </a:r>
              <a:r>
                <a:rPr lang="en-US" sz="700" dirty="0" err="1">
                  <a:solidFill>
                    <a:schemeClr val="tx1"/>
                  </a:solidFill>
                </a:rPr>
                <a:t>con_in</a:t>
              </a:r>
              <a:r>
                <a:rPr lang="en-US" sz="700" dirty="0">
                  <a:solidFill>
                    <a:schemeClr val="tx1"/>
                  </a:solidFill>
                </a:rPr>
                <a:t>": 0.5,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"</a:t>
              </a:r>
              <a:r>
                <a:rPr lang="en-US" sz="700" dirty="0" err="1">
                  <a:solidFill>
                    <a:schemeClr val="tx1"/>
                  </a:solidFill>
                </a:rPr>
                <a:t>con_out</a:t>
              </a:r>
              <a:r>
                <a:rPr lang="en-US" sz="700" dirty="0">
                  <a:solidFill>
                    <a:schemeClr val="tx1"/>
                  </a:solidFill>
                </a:rPr>
                <a:t>": 0.5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},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"metadata": {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"location": {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  "latitude": 1,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  "longitude": 0,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  "city": null,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  "region": ""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  }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  }</a:t>
              </a:r>
            </a:p>
            <a:p>
              <a:pPr>
                <a:spcAft>
                  <a:spcPts val="200"/>
                </a:spcAft>
              </a:pPr>
              <a:r>
                <a:rPr lang="en-US" sz="700" dirty="0">
                  <a:solidFill>
                    <a:schemeClr val="tx1"/>
                  </a:solidFill>
                </a:rPr>
                <a:t>}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E9B1FE6-EB92-01E2-6666-3BEEAC707DAF}"/>
              </a:ext>
            </a:extLst>
          </p:cNvPr>
          <p:cNvSpPr/>
          <p:nvPr/>
        </p:nvSpPr>
        <p:spPr>
          <a:xfrm>
            <a:off x="1050194" y="2400756"/>
            <a:ext cx="830997" cy="6054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operational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2F96D9A-CBB5-5692-4D66-1EC7A58C85DF}"/>
              </a:ext>
            </a:extLst>
          </p:cNvPr>
          <p:cNvSpPr/>
          <p:nvPr/>
        </p:nvSpPr>
        <p:spPr>
          <a:xfrm>
            <a:off x="1881191" y="2400756"/>
            <a:ext cx="729487" cy="6054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gain_target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delta_p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tilt_target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out_voa</a:t>
            </a:r>
            <a:endParaRPr lang="en-US" sz="7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25232E-9BD4-BF2C-D866-DB18976AF50B}"/>
              </a:ext>
            </a:extLst>
          </p:cNvPr>
          <p:cNvSpPr/>
          <p:nvPr/>
        </p:nvSpPr>
        <p:spPr>
          <a:xfrm>
            <a:off x="1050191" y="3006204"/>
            <a:ext cx="1560479" cy="90817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t" anchorCtr="0"/>
          <a:lstStyle/>
          <a:p>
            <a:r>
              <a:rPr lang="en-GB" sz="1200" dirty="0">
                <a:solidFill>
                  <a:schemeClr val="tx1"/>
                </a:solidFill>
              </a:rPr>
              <a:t>Metadata {}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CE52246-9D06-F251-5355-F3E2241B4AA6}"/>
              </a:ext>
            </a:extLst>
          </p:cNvPr>
          <p:cNvSpPr/>
          <p:nvPr/>
        </p:nvSpPr>
        <p:spPr>
          <a:xfrm>
            <a:off x="1172744" y="3308928"/>
            <a:ext cx="718966" cy="6054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location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1BBA0F5-BD2C-82DF-403D-B8D4508AE920}"/>
              </a:ext>
            </a:extLst>
          </p:cNvPr>
          <p:cNvSpPr/>
          <p:nvPr/>
        </p:nvSpPr>
        <p:spPr>
          <a:xfrm>
            <a:off x="1881192" y="3308928"/>
            <a:ext cx="729478" cy="6054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latitude</a:t>
            </a:r>
          </a:p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longitude</a:t>
            </a:r>
          </a:p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city</a:t>
            </a:r>
          </a:p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region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46D7CB1-4FC6-CA96-DC25-B5FF4C0D4C23}"/>
              </a:ext>
            </a:extLst>
          </p:cNvPr>
          <p:cNvGrpSpPr/>
          <p:nvPr/>
        </p:nvGrpSpPr>
        <p:grpSpPr>
          <a:xfrm>
            <a:off x="1039674" y="4042350"/>
            <a:ext cx="1560482" cy="929233"/>
            <a:chOff x="1050195" y="1471522"/>
            <a:chExt cx="1268935" cy="929233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8D0591F-6351-3E48-3C48-3AEDDF9F16EE}"/>
                </a:ext>
              </a:extLst>
            </p:cNvPr>
            <p:cNvSpPr/>
            <p:nvPr/>
          </p:nvSpPr>
          <p:spPr>
            <a:xfrm>
              <a:off x="1050195" y="1471522"/>
              <a:ext cx="1268933" cy="3644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Fiber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0AD46E6-058E-BD1A-0F85-B907069F6108}"/>
                </a:ext>
              </a:extLst>
            </p:cNvPr>
            <p:cNvSpPr/>
            <p:nvPr/>
          </p:nvSpPr>
          <p:spPr>
            <a:xfrm>
              <a:off x="1050196" y="1835957"/>
              <a:ext cx="1268934" cy="56479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200"/>
                </a:spcAft>
              </a:pPr>
              <a:r>
                <a:rPr lang="nb-NO" sz="700" dirty="0" err="1">
                  <a:solidFill>
                    <a:schemeClr val="tx1"/>
                  </a:solidFill>
                </a:rPr>
                <a:t>uid</a:t>
              </a:r>
              <a:endParaRPr lang="nb-NO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nb-NO" sz="700" dirty="0">
                  <a:solidFill>
                    <a:schemeClr val="tx1"/>
                  </a:solidFill>
                </a:rPr>
                <a:t>type: "Fiber"</a:t>
              </a:r>
            </a:p>
            <a:p>
              <a:pPr>
                <a:spcAft>
                  <a:spcPts val="200"/>
                </a:spcAft>
              </a:pPr>
              <a:r>
                <a:rPr lang="nb-NO" sz="700" dirty="0" err="1">
                  <a:solidFill>
                    <a:schemeClr val="tx1"/>
                  </a:solidFill>
                </a:rPr>
                <a:t>type_variety</a:t>
              </a:r>
              <a:endParaRPr lang="en-US" sz="700" dirty="0">
                <a:solidFill>
                  <a:schemeClr val="tx1"/>
                </a:solidFill>
              </a:endParaRPr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96075939-566D-A338-F732-06F796AE5082}"/>
              </a:ext>
            </a:extLst>
          </p:cNvPr>
          <p:cNvSpPr/>
          <p:nvPr/>
        </p:nvSpPr>
        <p:spPr>
          <a:xfrm>
            <a:off x="1039673" y="4971584"/>
            <a:ext cx="632115" cy="9352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params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C6CBDC9-9551-5DEB-0414-83336CA38422}"/>
              </a:ext>
            </a:extLst>
          </p:cNvPr>
          <p:cNvSpPr/>
          <p:nvPr/>
        </p:nvSpPr>
        <p:spPr>
          <a:xfrm>
            <a:off x="1671788" y="4971584"/>
            <a:ext cx="928369" cy="9352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length</a:t>
            </a: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loss_coef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length_units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att_in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con_in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con_out</a:t>
            </a:r>
            <a:endParaRPr lang="en-US" sz="700" dirty="0">
              <a:solidFill>
                <a:schemeClr val="tx1"/>
              </a:solidFill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526ACC9D-5F31-E15C-0ABD-45335B0AEC24}"/>
              </a:ext>
            </a:extLst>
          </p:cNvPr>
          <p:cNvGrpSpPr/>
          <p:nvPr/>
        </p:nvGrpSpPr>
        <p:grpSpPr>
          <a:xfrm>
            <a:off x="7700931" y="1514194"/>
            <a:ext cx="1560482" cy="929233"/>
            <a:chOff x="1050195" y="1471522"/>
            <a:chExt cx="1268935" cy="929233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D16AE6B-AD8D-F81C-6447-62F2C5F93E6F}"/>
                </a:ext>
              </a:extLst>
            </p:cNvPr>
            <p:cNvSpPr/>
            <p:nvPr/>
          </p:nvSpPr>
          <p:spPr>
            <a:xfrm>
              <a:off x="1050195" y="1471522"/>
              <a:ext cx="1268933" cy="3644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Multiband_amplifier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903390B3-4417-E058-C877-B26D574BDD3D}"/>
                </a:ext>
              </a:extLst>
            </p:cNvPr>
            <p:cNvSpPr/>
            <p:nvPr/>
          </p:nvSpPr>
          <p:spPr>
            <a:xfrm>
              <a:off x="1050196" y="1835957"/>
              <a:ext cx="1268934" cy="56479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200"/>
                </a:spcAft>
              </a:pPr>
              <a:r>
                <a:rPr lang="nb-NO" sz="700" dirty="0" err="1">
                  <a:solidFill>
                    <a:schemeClr val="tx1"/>
                  </a:solidFill>
                </a:rPr>
                <a:t>uid</a:t>
              </a:r>
              <a:endParaRPr lang="nb-NO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nb-NO" sz="700" dirty="0">
                  <a:solidFill>
                    <a:schemeClr val="tx1"/>
                  </a:solidFill>
                </a:rPr>
                <a:t>type: "</a:t>
              </a:r>
              <a:r>
                <a:rPr lang="nb-NO" sz="700" dirty="0" err="1">
                  <a:solidFill>
                    <a:schemeClr val="tx1"/>
                  </a:solidFill>
                </a:rPr>
                <a:t>Multiband_amplifier</a:t>
              </a:r>
              <a:r>
                <a:rPr lang="nb-NO" sz="700" dirty="0">
                  <a:solidFill>
                    <a:schemeClr val="tx1"/>
                  </a:solidFill>
                </a:rPr>
                <a:t>"</a:t>
              </a:r>
            </a:p>
            <a:p>
              <a:pPr>
                <a:spcAft>
                  <a:spcPts val="200"/>
                </a:spcAft>
              </a:pPr>
              <a:r>
                <a:rPr lang="nb-NO" sz="700" dirty="0" err="1">
                  <a:solidFill>
                    <a:schemeClr val="tx1"/>
                  </a:solidFill>
                </a:rPr>
                <a:t>type_variety</a:t>
              </a:r>
              <a:endParaRPr lang="en-US" sz="700" dirty="0">
                <a:solidFill>
                  <a:schemeClr val="tx1"/>
                </a:solidFill>
              </a:endParaRPr>
            </a:p>
          </p:txBody>
        </p:sp>
      </p:grpSp>
      <p:sp>
        <p:nvSpPr>
          <p:cNvPr id="49" name="Rectangle 48">
            <a:extLst>
              <a:ext uri="{FF2B5EF4-FFF2-40B4-BE49-F238E27FC236}">
                <a16:creationId xmlns:a16="http://schemas.microsoft.com/office/drawing/2014/main" id="{433052A9-0125-3DDB-E3CB-B860A473BF34}"/>
              </a:ext>
            </a:extLst>
          </p:cNvPr>
          <p:cNvSpPr/>
          <p:nvPr/>
        </p:nvSpPr>
        <p:spPr>
          <a:xfrm>
            <a:off x="7700927" y="2443427"/>
            <a:ext cx="1560479" cy="12880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t" anchorCtr="0"/>
          <a:lstStyle/>
          <a:p>
            <a:r>
              <a:rPr lang="en-GB" sz="1200" dirty="0">
                <a:solidFill>
                  <a:schemeClr val="tx1"/>
                </a:solidFill>
              </a:rPr>
              <a:t>Amplifiers [{}]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AF94AB7-B3C1-40CE-4B11-768A454F9D9A}"/>
              </a:ext>
            </a:extLst>
          </p:cNvPr>
          <p:cNvSpPr/>
          <p:nvPr/>
        </p:nvSpPr>
        <p:spPr>
          <a:xfrm>
            <a:off x="7823480" y="2807862"/>
            <a:ext cx="1437926" cy="92363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t" anchorCtr="0"/>
          <a:lstStyle/>
          <a:p>
            <a:r>
              <a:rPr lang="en-GB" sz="1200" dirty="0" err="1">
                <a:solidFill>
                  <a:schemeClr val="tx1"/>
                </a:solidFill>
              </a:rPr>
              <a:t>type_variety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4A7C5FC-381E-B4A0-6625-1F87F814B27F}"/>
              </a:ext>
            </a:extLst>
          </p:cNvPr>
          <p:cNvSpPr/>
          <p:nvPr/>
        </p:nvSpPr>
        <p:spPr>
          <a:xfrm>
            <a:off x="7823480" y="3126048"/>
            <a:ext cx="718966" cy="6054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GB" sz="1000" dirty="0">
                <a:solidFill>
                  <a:schemeClr val="tx1"/>
                </a:solidFill>
              </a:rPr>
              <a:t>operational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2065CB3-B444-B241-07D9-CD194C8B28BB}"/>
              </a:ext>
            </a:extLst>
          </p:cNvPr>
          <p:cNvSpPr/>
          <p:nvPr/>
        </p:nvSpPr>
        <p:spPr>
          <a:xfrm>
            <a:off x="8531928" y="3126048"/>
            <a:ext cx="729478" cy="6054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gain_target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delta_p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out_voa</a:t>
            </a:r>
            <a:endParaRPr lang="en-US" sz="700" dirty="0">
              <a:solidFill>
                <a:schemeClr val="tx1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700" dirty="0" err="1">
                <a:solidFill>
                  <a:schemeClr val="tx1"/>
                </a:solidFill>
              </a:rPr>
              <a:t>tilt_target</a:t>
            </a:r>
            <a:endParaRPr lang="en-US" sz="700" dirty="0">
              <a:solidFill>
                <a:schemeClr val="tx1"/>
              </a:solidFill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AFC8F6AE-2286-08FC-D286-EFFD7849CB84}"/>
              </a:ext>
            </a:extLst>
          </p:cNvPr>
          <p:cNvGrpSpPr/>
          <p:nvPr/>
        </p:nvGrpSpPr>
        <p:grpSpPr>
          <a:xfrm>
            <a:off x="9909867" y="3126048"/>
            <a:ext cx="1560482" cy="929233"/>
            <a:chOff x="1050195" y="1471522"/>
            <a:chExt cx="1268935" cy="92923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14B9F03-C9F0-E23D-F130-3FF6A930E461}"/>
                </a:ext>
              </a:extLst>
            </p:cNvPr>
            <p:cNvSpPr/>
            <p:nvPr/>
          </p:nvSpPr>
          <p:spPr>
            <a:xfrm>
              <a:off x="1050195" y="1471522"/>
              <a:ext cx="1268933" cy="36443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Transceiver</a:t>
              </a: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CB9C86A5-2645-2078-EC49-C7FCB3172993}"/>
                </a:ext>
              </a:extLst>
            </p:cNvPr>
            <p:cNvSpPr/>
            <p:nvPr/>
          </p:nvSpPr>
          <p:spPr>
            <a:xfrm>
              <a:off x="1050196" y="1835957"/>
              <a:ext cx="1268934" cy="56479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200"/>
                </a:spcAft>
              </a:pPr>
              <a:r>
                <a:rPr lang="nb-NO" sz="700" dirty="0" err="1">
                  <a:solidFill>
                    <a:schemeClr val="tx1"/>
                  </a:solidFill>
                </a:rPr>
                <a:t>uid</a:t>
              </a:r>
              <a:endParaRPr lang="nb-NO" sz="700" dirty="0">
                <a:solidFill>
                  <a:schemeClr val="tx1"/>
                </a:solidFill>
              </a:endParaRPr>
            </a:p>
            <a:p>
              <a:pPr>
                <a:spcAft>
                  <a:spcPts val="200"/>
                </a:spcAft>
              </a:pPr>
              <a:r>
                <a:rPr lang="nb-NO" sz="700" dirty="0">
                  <a:solidFill>
                    <a:schemeClr val="tx1"/>
                  </a:solidFill>
                </a:rPr>
                <a:t>type: "Transceiver"</a:t>
              </a:r>
            </a:p>
            <a:p>
              <a:pPr>
                <a:spcAft>
                  <a:spcPts val="200"/>
                </a:spcAft>
              </a:pPr>
              <a:r>
                <a:rPr lang="nb-NO" sz="700" dirty="0" err="1">
                  <a:solidFill>
                    <a:schemeClr val="tx1"/>
                  </a:solidFill>
                </a:rPr>
                <a:t>type_variety</a:t>
              </a:r>
              <a:endParaRPr lang="en-US" sz="700" dirty="0">
                <a:solidFill>
                  <a:schemeClr val="tx1"/>
                </a:solidFill>
              </a:endParaRPr>
            </a:p>
          </p:txBody>
        </p:sp>
      </p:grpSp>
      <p:sp>
        <p:nvSpPr>
          <p:cNvPr id="60" name="Rectangle 59">
            <a:extLst>
              <a:ext uri="{FF2B5EF4-FFF2-40B4-BE49-F238E27FC236}">
                <a16:creationId xmlns:a16="http://schemas.microsoft.com/office/drawing/2014/main" id="{B642F60D-1719-C70B-6B60-6A9B2E222E5A}"/>
              </a:ext>
            </a:extLst>
          </p:cNvPr>
          <p:cNvSpPr/>
          <p:nvPr/>
        </p:nvSpPr>
        <p:spPr>
          <a:xfrm>
            <a:off x="9909868" y="4063411"/>
            <a:ext cx="1560479" cy="90817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t" anchorCtr="0"/>
          <a:lstStyle/>
          <a:p>
            <a:r>
              <a:rPr lang="en-GB" sz="1200" dirty="0">
                <a:solidFill>
                  <a:schemeClr val="tx1"/>
                </a:solidFill>
              </a:rPr>
              <a:t>Metadata {}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4190E36-D0AE-ED1A-6808-3A2EF38D02FD}"/>
              </a:ext>
            </a:extLst>
          </p:cNvPr>
          <p:cNvSpPr/>
          <p:nvPr/>
        </p:nvSpPr>
        <p:spPr>
          <a:xfrm>
            <a:off x="10032421" y="4366135"/>
            <a:ext cx="718966" cy="6054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location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ACF213C-AEF2-2C90-943A-3515E73C1F1D}"/>
              </a:ext>
            </a:extLst>
          </p:cNvPr>
          <p:cNvSpPr/>
          <p:nvPr/>
        </p:nvSpPr>
        <p:spPr>
          <a:xfrm>
            <a:off x="10740869" y="4366135"/>
            <a:ext cx="729478" cy="6054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latitude</a:t>
            </a:r>
          </a:p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longitude</a:t>
            </a:r>
          </a:p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city</a:t>
            </a:r>
          </a:p>
          <a:p>
            <a:pPr>
              <a:spcAft>
                <a:spcPts val="200"/>
              </a:spcAft>
            </a:pPr>
            <a:r>
              <a:rPr lang="en-US" sz="700" dirty="0">
                <a:solidFill>
                  <a:schemeClr val="tx1"/>
                </a:solidFill>
              </a:rPr>
              <a:t>region</a:t>
            </a:r>
          </a:p>
        </p:txBody>
      </p:sp>
    </p:spTree>
    <p:extLst>
      <p:ext uri="{BB962C8B-B14F-4D97-AF65-F5344CB8AC3E}">
        <p14:creationId xmlns:p14="http://schemas.microsoft.com/office/powerpoint/2010/main" val="2465354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732</TotalTime>
  <Words>1413</Words>
  <Application>Microsoft Office PowerPoint</Application>
  <PresentationFormat>Widescreen</PresentationFormat>
  <Paragraphs>313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Haris Hassan (Nokia)</dc:creator>
  <cp:lastModifiedBy>Haris Hassan (Nokia)</cp:lastModifiedBy>
  <cp:revision>9</cp:revision>
  <dcterms:created xsi:type="dcterms:W3CDTF">2026-06-17T07:48:05Z</dcterms:created>
  <dcterms:modified xsi:type="dcterms:W3CDTF">2026-06-18T13:28:14Z</dcterms:modified>
</cp:coreProperties>
</file>